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60" r:id="rId4"/>
    <p:sldId id="261" r:id="rId5"/>
    <p:sldId id="262" r:id="rId6"/>
    <p:sldId id="267" r:id="rId7"/>
    <p:sldId id="263" r:id="rId8"/>
    <p:sldId id="264" r:id="rId9"/>
    <p:sldId id="257"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213"/>
  </p:normalViewPr>
  <p:slideViewPr>
    <p:cSldViewPr snapToGrid="0">
      <p:cViewPr>
        <p:scale>
          <a:sx n="89" d="100"/>
          <a:sy n="89" d="100"/>
        </p:scale>
        <p:origin x="192" y="3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4E9AF4-A798-4FE4-8448-C50A7DE3117E}"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818F20C-2944-4789-8332-F13A0E0ADFC2}">
      <dgm:prSet/>
      <dgm:spPr/>
      <dgm:t>
        <a:bodyPr/>
        <a:lstStyle/>
        <a:p>
          <a:pPr>
            <a:defRPr cap="all"/>
          </a:pPr>
          <a:r>
            <a:rPr lang="fr-SN"/>
            <a:t>La possession de ces donnés permet de passer à la préparation de l'avant-projet, puis à la  réalisation du projet lui-même. Selon la taille de l'entreprise projet l’idée concernant la conception d'une unité transformation doit comprendre deux ou trois grands dossiers: </a:t>
          </a:r>
          <a:endParaRPr lang="en-US"/>
        </a:p>
      </dgm:t>
    </dgm:pt>
    <dgm:pt modelId="{FABC1299-D8C8-4731-9F9D-3BD19251D3A6}" type="parTrans" cxnId="{D6A1CCE0-B0E8-41C3-835C-F7A20A9E00AD}">
      <dgm:prSet/>
      <dgm:spPr/>
      <dgm:t>
        <a:bodyPr/>
        <a:lstStyle/>
        <a:p>
          <a:endParaRPr lang="en-US"/>
        </a:p>
      </dgm:t>
    </dgm:pt>
    <dgm:pt modelId="{2F075AD7-2C0D-4A6D-9F9D-B723D4687D65}" type="sibTrans" cxnId="{D6A1CCE0-B0E8-41C3-835C-F7A20A9E00AD}">
      <dgm:prSet/>
      <dgm:spPr/>
      <dgm:t>
        <a:bodyPr/>
        <a:lstStyle/>
        <a:p>
          <a:endParaRPr lang="en-US"/>
        </a:p>
      </dgm:t>
    </dgm:pt>
    <dgm:pt modelId="{26A66D74-309D-4BBA-8E09-5C9B28CFDF2E}">
      <dgm:prSet/>
      <dgm:spPr/>
      <dgm:t>
        <a:bodyPr/>
        <a:lstStyle/>
        <a:p>
          <a:pPr>
            <a:defRPr cap="all"/>
          </a:pPr>
          <a:r>
            <a:rPr lang="fr-SN"/>
            <a:t>- un dossier technique;</a:t>
          </a:r>
          <a:br>
            <a:rPr lang="fr-SN"/>
          </a:br>
          <a:r>
            <a:rPr lang="fr-SN"/>
            <a:t>- un dossier main-d'œuvre;</a:t>
          </a:r>
          <a:br>
            <a:rPr lang="fr-SN"/>
          </a:br>
          <a:r>
            <a:rPr lang="fr-SN"/>
            <a:t>- un dossier nomique et financier. </a:t>
          </a:r>
          <a:endParaRPr lang="en-US"/>
        </a:p>
      </dgm:t>
    </dgm:pt>
    <dgm:pt modelId="{1B329025-EDAF-4218-86AA-62522F35244A}" type="parTrans" cxnId="{C5580C79-CAFC-4725-BA6E-F8B390F8603B}">
      <dgm:prSet/>
      <dgm:spPr/>
      <dgm:t>
        <a:bodyPr/>
        <a:lstStyle/>
        <a:p>
          <a:endParaRPr lang="en-US"/>
        </a:p>
      </dgm:t>
    </dgm:pt>
    <dgm:pt modelId="{C09FD523-1F1B-475E-943E-C4720B96705A}" type="sibTrans" cxnId="{C5580C79-CAFC-4725-BA6E-F8B390F8603B}">
      <dgm:prSet/>
      <dgm:spPr/>
      <dgm:t>
        <a:bodyPr/>
        <a:lstStyle/>
        <a:p>
          <a:endParaRPr lang="en-US"/>
        </a:p>
      </dgm:t>
    </dgm:pt>
    <dgm:pt modelId="{FC069362-8A14-4C60-BC23-13425B576C74}">
      <dgm:prSet/>
      <dgm:spPr/>
      <dgm:t>
        <a:bodyPr/>
        <a:lstStyle/>
        <a:p>
          <a:pPr>
            <a:defRPr cap="all"/>
          </a:pPr>
          <a:r>
            <a:rPr lang="fr-SN"/>
            <a:t>Grace aux donnés de base dont il est question, le dossier technique permet de définir: </a:t>
          </a:r>
          <a:endParaRPr lang="en-US"/>
        </a:p>
      </dgm:t>
    </dgm:pt>
    <dgm:pt modelId="{68F539C0-D04D-465A-835A-964D2420FBE1}" type="parTrans" cxnId="{24D99501-E5E7-4074-8E9E-85ABA06C54E8}">
      <dgm:prSet/>
      <dgm:spPr/>
      <dgm:t>
        <a:bodyPr/>
        <a:lstStyle/>
        <a:p>
          <a:endParaRPr lang="en-US"/>
        </a:p>
      </dgm:t>
    </dgm:pt>
    <dgm:pt modelId="{4881AFFB-A435-4A2D-B65D-201D4113990D}" type="sibTrans" cxnId="{24D99501-E5E7-4074-8E9E-85ABA06C54E8}">
      <dgm:prSet/>
      <dgm:spPr/>
      <dgm:t>
        <a:bodyPr/>
        <a:lstStyle/>
        <a:p>
          <a:endParaRPr lang="en-US"/>
        </a:p>
      </dgm:t>
    </dgm:pt>
    <dgm:pt modelId="{25FAF290-939E-4D4F-93F1-E140C24988B8}">
      <dgm:prSet/>
      <dgm:spPr/>
      <dgm:t>
        <a:bodyPr/>
        <a:lstStyle/>
        <a:p>
          <a:pPr>
            <a:defRPr cap="all"/>
          </a:pPr>
          <a:r>
            <a:rPr lang="fr-SN"/>
            <a:t>- le choix du procédé de fabrication (après comparaison des différentes possibilité permettant de fabriquer le produit final)</a:t>
          </a:r>
          <a:endParaRPr lang="en-US"/>
        </a:p>
      </dgm:t>
    </dgm:pt>
    <dgm:pt modelId="{3A92E549-33C6-410D-B8E6-37D89B6DBE1F}" type="parTrans" cxnId="{7ED3DA24-2306-40A8-980B-0AEB9E91714E}">
      <dgm:prSet/>
      <dgm:spPr/>
      <dgm:t>
        <a:bodyPr/>
        <a:lstStyle/>
        <a:p>
          <a:endParaRPr lang="en-US"/>
        </a:p>
      </dgm:t>
    </dgm:pt>
    <dgm:pt modelId="{E0B10FB6-FE02-459C-9E43-02E878C8329C}" type="sibTrans" cxnId="{7ED3DA24-2306-40A8-980B-0AEB9E91714E}">
      <dgm:prSet/>
      <dgm:spPr/>
      <dgm:t>
        <a:bodyPr/>
        <a:lstStyle/>
        <a:p>
          <a:endParaRPr lang="en-US"/>
        </a:p>
      </dgm:t>
    </dgm:pt>
    <dgm:pt modelId="{14AB8741-0A94-4F2C-8691-125BAE46B163}">
      <dgm:prSet/>
      <dgm:spPr/>
      <dgm:t>
        <a:bodyPr/>
        <a:lstStyle/>
        <a:p>
          <a:pPr>
            <a:defRPr cap="all"/>
          </a:pPr>
          <a:r>
            <a:rPr lang="fr-SN"/>
            <a:t>- le schéma de fabrication ou diagramme;</a:t>
          </a:r>
          <a:br>
            <a:rPr lang="fr-SN"/>
          </a:br>
          <a:r>
            <a:rPr lang="fr-SN"/>
            <a:t>- les bilans “matières”;</a:t>
          </a:r>
          <a:br>
            <a:rPr lang="fr-SN"/>
          </a:br>
          <a:r>
            <a:rPr lang="fr-SN"/>
            <a:t>- la capacite production; </a:t>
          </a:r>
          <a:endParaRPr lang="en-US"/>
        </a:p>
      </dgm:t>
    </dgm:pt>
    <dgm:pt modelId="{E35D0B1D-D774-4D71-B865-3F7951E82772}" type="parTrans" cxnId="{0D7E3B9A-B67F-4144-B4E0-FB5E357ADA01}">
      <dgm:prSet/>
      <dgm:spPr/>
      <dgm:t>
        <a:bodyPr/>
        <a:lstStyle/>
        <a:p>
          <a:endParaRPr lang="en-US"/>
        </a:p>
      </dgm:t>
    </dgm:pt>
    <dgm:pt modelId="{5A3A5931-DB5B-4756-B764-F4EBA27E1312}" type="sibTrans" cxnId="{0D7E3B9A-B67F-4144-B4E0-FB5E357ADA01}">
      <dgm:prSet/>
      <dgm:spPr/>
      <dgm:t>
        <a:bodyPr/>
        <a:lstStyle/>
        <a:p>
          <a:endParaRPr lang="en-US"/>
        </a:p>
      </dgm:t>
    </dgm:pt>
    <dgm:pt modelId="{8EEA14F2-A7E9-4E1D-8635-E6FD15D0DB6F}">
      <dgm:prSet/>
      <dgm:spPr/>
      <dgm:t>
        <a:bodyPr/>
        <a:lstStyle/>
        <a:p>
          <a:pPr>
            <a:defRPr cap="all"/>
          </a:pPr>
          <a:r>
            <a:rPr lang="fr-SN"/>
            <a:t>- le plan d'implantation. </a:t>
          </a:r>
          <a:endParaRPr lang="en-US"/>
        </a:p>
      </dgm:t>
    </dgm:pt>
    <dgm:pt modelId="{F2986E76-386F-4D5D-A482-D5A779C8DACC}" type="parTrans" cxnId="{E61837E1-91BE-434E-AE8C-289C6059E98F}">
      <dgm:prSet/>
      <dgm:spPr/>
      <dgm:t>
        <a:bodyPr/>
        <a:lstStyle/>
        <a:p>
          <a:endParaRPr lang="en-US"/>
        </a:p>
      </dgm:t>
    </dgm:pt>
    <dgm:pt modelId="{48F0DAFE-7152-4FDD-959B-4834205D5B87}" type="sibTrans" cxnId="{E61837E1-91BE-434E-AE8C-289C6059E98F}">
      <dgm:prSet/>
      <dgm:spPr/>
      <dgm:t>
        <a:bodyPr/>
        <a:lstStyle/>
        <a:p>
          <a:endParaRPr lang="en-US"/>
        </a:p>
      </dgm:t>
    </dgm:pt>
    <dgm:pt modelId="{96443BB2-E51E-44AB-9894-AFA65C8147FB}" type="pres">
      <dgm:prSet presAssocID="{5A4E9AF4-A798-4FE4-8448-C50A7DE3117E}" presName="root" presStyleCnt="0">
        <dgm:presLayoutVars>
          <dgm:dir/>
          <dgm:resizeHandles val="exact"/>
        </dgm:presLayoutVars>
      </dgm:prSet>
      <dgm:spPr/>
    </dgm:pt>
    <dgm:pt modelId="{68B9A4AB-2C82-491A-B4D4-C7408FDFA93C}" type="pres">
      <dgm:prSet presAssocID="{0818F20C-2944-4789-8332-F13A0E0ADFC2}" presName="compNode" presStyleCnt="0"/>
      <dgm:spPr/>
    </dgm:pt>
    <dgm:pt modelId="{94BB536B-846B-4AB4-83C3-0A69FA87B225}" type="pres">
      <dgm:prSet presAssocID="{0818F20C-2944-4789-8332-F13A0E0ADFC2}" presName="iconBgRect" presStyleLbl="bgShp" presStyleIdx="0" presStyleCnt="6"/>
      <dgm:spPr>
        <a:prstGeom prst="round2DiagRect">
          <a:avLst>
            <a:gd name="adj1" fmla="val 29727"/>
            <a:gd name="adj2" fmla="val 0"/>
          </a:avLst>
        </a:prstGeom>
      </dgm:spPr>
    </dgm:pt>
    <dgm:pt modelId="{E4AD2D4D-89D4-45BE-A62D-57EC24A17E7B}" type="pres">
      <dgm:prSet presAssocID="{0818F20C-2944-4789-8332-F13A0E0ADFC2}"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ain"/>
        </a:ext>
      </dgm:extLst>
    </dgm:pt>
    <dgm:pt modelId="{2C6F4227-E5CC-4690-B328-322624BB6495}" type="pres">
      <dgm:prSet presAssocID="{0818F20C-2944-4789-8332-F13A0E0ADFC2}" presName="spaceRect" presStyleCnt="0"/>
      <dgm:spPr/>
    </dgm:pt>
    <dgm:pt modelId="{9A6B4010-1CC6-4312-ACCF-460DAF8A4850}" type="pres">
      <dgm:prSet presAssocID="{0818F20C-2944-4789-8332-F13A0E0ADFC2}" presName="textRect" presStyleLbl="revTx" presStyleIdx="0" presStyleCnt="6">
        <dgm:presLayoutVars>
          <dgm:chMax val="1"/>
          <dgm:chPref val="1"/>
        </dgm:presLayoutVars>
      </dgm:prSet>
      <dgm:spPr/>
    </dgm:pt>
    <dgm:pt modelId="{C45B402F-656B-4EE5-9C43-A5BD4817F99D}" type="pres">
      <dgm:prSet presAssocID="{2F075AD7-2C0D-4A6D-9F9D-B723D4687D65}" presName="sibTrans" presStyleCnt="0"/>
      <dgm:spPr/>
    </dgm:pt>
    <dgm:pt modelId="{F703F2B6-2789-4C31-A2E8-83DFCF6317B6}" type="pres">
      <dgm:prSet presAssocID="{26A66D74-309D-4BBA-8E09-5C9B28CFDF2E}" presName="compNode" presStyleCnt="0"/>
      <dgm:spPr/>
    </dgm:pt>
    <dgm:pt modelId="{EC9B4F57-4C7C-4840-A3F0-5D76F7A9BE45}" type="pres">
      <dgm:prSet presAssocID="{26A66D74-309D-4BBA-8E09-5C9B28CFDF2E}" presName="iconBgRect" presStyleLbl="bgShp" presStyleIdx="1" presStyleCnt="6"/>
      <dgm:spPr>
        <a:prstGeom prst="round2DiagRect">
          <a:avLst>
            <a:gd name="adj1" fmla="val 29727"/>
            <a:gd name="adj2" fmla="val 0"/>
          </a:avLst>
        </a:prstGeom>
      </dgm:spPr>
    </dgm:pt>
    <dgm:pt modelId="{30CF3491-1C1A-4FCB-B978-0554B93C5417}" type="pres">
      <dgm:prSet presAssocID="{26A66D74-309D-4BBA-8E09-5C9B28CFDF2E}"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Folder"/>
        </a:ext>
      </dgm:extLst>
    </dgm:pt>
    <dgm:pt modelId="{0EF0DA70-2CA7-4B9D-9361-EE456294922B}" type="pres">
      <dgm:prSet presAssocID="{26A66D74-309D-4BBA-8E09-5C9B28CFDF2E}" presName="spaceRect" presStyleCnt="0"/>
      <dgm:spPr/>
    </dgm:pt>
    <dgm:pt modelId="{9757C1D7-D0A3-4AE1-8B34-6CF7D0362A38}" type="pres">
      <dgm:prSet presAssocID="{26A66D74-309D-4BBA-8E09-5C9B28CFDF2E}" presName="textRect" presStyleLbl="revTx" presStyleIdx="1" presStyleCnt="6">
        <dgm:presLayoutVars>
          <dgm:chMax val="1"/>
          <dgm:chPref val="1"/>
        </dgm:presLayoutVars>
      </dgm:prSet>
      <dgm:spPr/>
    </dgm:pt>
    <dgm:pt modelId="{9D059FE8-C415-4460-91B3-5BE9203FB16D}" type="pres">
      <dgm:prSet presAssocID="{C09FD523-1F1B-475E-943E-C4720B96705A}" presName="sibTrans" presStyleCnt="0"/>
      <dgm:spPr/>
    </dgm:pt>
    <dgm:pt modelId="{8AFF467B-7DF5-4451-816B-6B9E8818E9B0}" type="pres">
      <dgm:prSet presAssocID="{FC069362-8A14-4C60-BC23-13425B576C74}" presName="compNode" presStyleCnt="0"/>
      <dgm:spPr/>
    </dgm:pt>
    <dgm:pt modelId="{F43AC368-69A0-4578-888A-0BEE97C6769D}" type="pres">
      <dgm:prSet presAssocID="{FC069362-8A14-4C60-BC23-13425B576C74}" presName="iconBgRect" presStyleLbl="bgShp" presStyleIdx="2" presStyleCnt="6"/>
      <dgm:spPr>
        <a:prstGeom prst="round2DiagRect">
          <a:avLst>
            <a:gd name="adj1" fmla="val 29727"/>
            <a:gd name="adj2" fmla="val 0"/>
          </a:avLst>
        </a:prstGeom>
      </dgm:spPr>
    </dgm:pt>
    <dgm:pt modelId="{C1676C29-AB90-4056-B8F1-6E35B48D3683}" type="pres">
      <dgm:prSet presAssocID="{FC069362-8A14-4C60-BC23-13425B576C74}"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2D56966E-923D-4CEA-B898-25EBFA02774A}" type="pres">
      <dgm:prSet presAssocID="{FC069362-8A14-4C60-BC23-13425B576C74}" presName="spaceRect" presStyleCnt="0"/>
      <dgm:spPr/>
    </dgm:pt>
    <dgm:pt modelId="{9DC0E149-F779-4D24-BD2B-E548F5C7B175}" type="pres">
      <dgm:prSet presAssocID="{FC069362-8A14-4C60-BC23-13425B576C74}" presName="textRect" presStyleLbl="revTx" presStyleIdx="2" presStyleCnt="6">
        <dgm:presLayoutVars>
          <dgm:chMax val="1"/>
          <dgm:chPref val="1"/>
        </dgm:presLayoutVars>
      </dgm:prSet>
      <dgm:spPr/>
    </dgm:pt>
    <dgm:pt modelId="{1369658C-1301-49F0-92C8-41C815A09C4D}" type="pres">
      <dgm:prSet presAssocID="{4881AFFB-A435-4A2D-B65D-201D4113990D}" presName="sibTrans" presStyleCnt="0"/>
      <dgm:spPr/>
    </dgm:pt>
    <dgm:pt modelId="{AACB86D2-2EDF-4007-AD4C-B552CAFA4FA0}" type="pres">
      <dgm:prSet presAssocID="{25FAF290-939E-4D4F-93F1-E140C24988B8}" presName="compNode" presStyleCnt="0"/>
      <dgm:spPr/>
    </dgm:pt>
    <dgm:pt modelId="{52A8FC61-620A-4E0C-951E-79CB7C2305F6}" type="pres">
      <dgm:prSet presAssocID="{25FAF290-939E-4D4F-93F1-E140C24988B8}" presName="iconBgRect" presStyleLbl="bgShp" presStyleIdx="3" presStyleCnt="6"/>
      <dgm:spPr>
        <a:prstGeom prst="round2DiagRect">
          <a:avLst>
            <a:gd name="adj1" fmla="val 29727"/>
            <a:gd name="adj2" fmla="val 0"/>
          </a:avLst>
        </a:prstGeom>
      </dgm:spPr>
    </dgm:pt>
    <dgm:pt modelId="{75AE2540-3CEA-4DB6-8CB3-454C8C60738F}" type="pres">
      <dgm:prSet presAssocID="{25FAF290-939E-4D4F-93F1-E140C24988B8}"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ine"/>
        </a:ext>
      </dgm:extLst>
    </dgm:pt>
    <dgm:pt modelId="{9C92208C-E50B-45D4-93A1-FD57AB4283F2}" type="pres">
      <dgm:prSet presAssocID="{25FAF290-939E-4D4F-93F1-E140C24988B8}" presName="spaceRect" presStyleCnt="0"/>
      <dgm:spPr/>
    </dgm:pt>
    <dgm:pt modelId="{B8F7953D-DD89-45D9-B2E8-A10B97A2AED9}" type="pres">
      <dgm:prSet presAssocID="{25FAF290-939E-4D4F-93F1-E140C24988B8}" presName="textRect" presStyleLbl="revTx" presStyleIdx="3" presStyleCnt="6">
        <dgm:presLayoutVars>
          <dgm:chMax val="1"/>
          <dgm:chPref val="1"/>
        </dgm:presLayoutVars>
      </dgm:prSet>
      <dgm:spPr/>
    </dgm:pt>
    <dgm:pt modelId="{07EE60A1-BD14-4DD1-AEF7-9DF5A3A0312E}" type="pres">
      <dgm:prSet presAssocID="{E0B10FB6-FE02-459C-9E43-02E878C8329C}" presName="sibTrans" presStyleCnt="0"/>
      <dgm:spPr/>
    </dgm:pt>
    <dgm:pt modelId="{E50B04CA-E51B-4A62-8851-21F71BA41C00}" type="pres">
      <dgm:prSet presAssocID="{14AB8741-0A94-4F2C-8691-125BAE46B163}" presName="compNode" presStyleCnt="0"/>
      <dgm:spPr/>
    </dgm:pt>
    <dgm:pt modelId="{2294D264-5A13-47EC-9F90-C25CD07291ED}" type="pres">
      <dgm:prSet presAssocID="{14AB8741-0A94-4F2C-8691-125BAE46B163}" presName="iconBgRect" presStyleLbl="bgShp" presStyleIdx="4" presStyleCnt="6"/>
      <dgm:spPr>
        <a:prstGeom prst="round2DiagRect">
          <a:avLst>
            <a:gd name="adj1" fmla="val 29727"/>
            <a:gd name="adj2" fmla="val 0"/>
          </a:avLst>
        </a:prstGeom>
      </dgm:spPr>
    </dgm:pt>
    <dgm:pt modelId="{07C1D93F-FCBA-4984-B783-D96438630A30}" type="pres">
      <dgm:prSet presAssocID="{14AB8741-0A94-4F2C-8691-125BAE46B163}"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Engrenages"/>
        </a:ext>
      </dgm:extLst>
    </dgm:pt>
    <dgm:pt modelId="{5C5E6929-CB63-42BD-909D-417B3C8D9156}" type="pres">
      <dgm:prSet presAssocID="{14AB8741-0A94-4F2C-8691-125BAE46B163}" presName="spaceRect" presStyleCnt="0"/>
      <dgm:spPr/>
    </dgm:pt>
    <dgm:pt modelId="{50DE7349-D679-4366-9710-DD243A1246F7}" type="pres">
      <dgm:prSet presAssocID="{14AB8741-0A94-4F2C-8691-125BAE46B163}" presName="textRect" presStyleLbl="revTx" presStyleIdx="4" presStyleCnt="6">
        <dgm:presLayoutVars>
          <dgm:chMax val="1"/>
          <dgm:chPref val="1"/>
        </dgm:presLayoutVars>
      </dgm:prSet>
      <dgm:spPr/>
    </dgm:pt>
    <dgm:pt modelId="{CE1A110C-B7C6-4362-9D00-4C79EE9C733A}" type="pres">
      <dgm:prSet presAssocID="{5A3A5931-DB5B-4756-B764-F4EBA27E1312}" presName="sibTrans" presStyleCnt="0"/>
      <dgm:spPr/>
    </dgm:pt>
    <dgm:pt modelId="{3B63E302-503F-4AEF-A257-11D41B198AC3}" type="pres">
      <dgm:prSet presAssocID="{8EEA14F2-A7E9-4E1D-8635-E6FD15D0DB6F}" presName="compNode" presStyleCnt="0"/>
      <dgm:spPr/>
    </dgm:pt>
    <dgm:pt modelId="{E56AEE0C-1D54-49A1-860E-4EE8C7098539}" type="pres">
      <dgm:prSet presAssocID="{8EEA14F2-A7E9-4E1D-8635-E6FD15D0DB6F}" presName="iconBgRect" presStyleLbl="bgShp" presStyleIdx="5" presStyleCnt="6"/>
      <dgm:spPr>
        <a:prstGeom prst="round2DiagRect">
          <a:avLst>
            <a:gd name="adj1" fmla="val 29727"/>
            <a:gd name="adj2" fmla="val 0"/>
          </a:avLst>
        </a:prstGeom>
      </dgm:spPr>
    </dgm:pt>
    <dgm:pt modelId="{EAACD2C0-A7C7-4AD2-9875-6EDAFFA3CE57}" type="pres">
      <dgm:prSet presAssocID="{8EEA14F2-A7E9-4E1D-8635-E6FD15D0DB6F}"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Map with pin"/>
        </a:ext>
      </dgm:extLst>
    </dgm:pt>
    <dgm:pt modelId="{57177806-E6B1-47B5-91CE-5FB866C361DD}" type="pres">
      <dgm:prSet presAssocID="{8EEA14F2-A7E9-4E1D-8635-E6FD15D0DB6F}" presName="spaceRect" presStyleCnt="0"/>
      <dgm:spPr/>
    </dgm:pt>
    <dgm:pt modelId="{0660E15C-38C0-460B-A0A4-BC829771B104}" type="pres">
      <dgm:prSet presAssocID="{8EEA14F2-A7E9-4E1D-8635-E6FD15D0DB6F}" presName="textRect" presStyleLbl="revTx" presStyleIdx="5" presStyleCnt="6">
        <dgm:presLayoutVars>
          <dgm:chMax val="1"/>
          <dgm:chPref val="1"/>
        </dgm:presLayoutVars>
      </dgm:prSet>
      <dgm:spPr/>
    </dgm:pt>
  </dgm:ptLst>
  <dgm:cxnLst>
    <dgm:cxn modelId="{24D99501-E5E7-4074-8E9E-85ABA06C54E8}" srcId="{5A4E9AF4-A798-4FE4-8448-C50A7DE3117E}" destId="{FC069362-8A14-4C60-BC23-13425B576C74}" srcOrd="2" destOrd="0" parTransId="{68F539C0-D04D-465A-835A-964D2420FBE1}" sibTransId="{4881AFFB-A435-4A2D-B65D-201D4113990D}"/>
    <dgm:cxn modelId="{97F39D01-8848-4627-9BE2-5901094AFC49}" type="presOf" srcId="{5A4E9AF4-A798-4FE4-8448-C50A7DE3117E}" destId="{96443BB2-E51E-44AB-9894-AFA65C8147FB}" srcOrd="0" destOrd="0" presId="urn:microsoft.com/office/officeart/2018/5/layout/IconLeafLabelList"/>
    <dgm:cxn modelId="{7ED3DA24-2306-40A8-980B-0AEB9E91714E}" srcId="{5A4E9AF4-A798-4FE4-8448-C50A7DE3117E}" destId="{25FAF290-939E-4D4F-93F1-E140C24988B8}" srcOrd="3" destOrd="0" parTransId="{3A92E549-33C6-410D-B8E6-37D89B6DBE1F}" sibTransId="{E0B10FB6-FE02-459C-9E43-02E878C8329C}"/>
    <dgm:cxn modelId="{2692333D-DB1C-4735-BA8A-AE86C9D91AEA}" type="presOf" srcId="{25FAF290-939E-4D4F-93F1-E140C24988B8}" destId="{B8F7953D-DD89-45D9-B2E8-A10B97A2AED9}" srcOrd="0" destOrd="0" presId="urn:microsoft.com/office/officeart/2018/5/layout/IconLeafLabelList"/>
    <dgm:cxn modelId="{C5580C79-CAFC-4725-BA6E-F8B390F8603B}" srcId="{5A4E9AF4-A798-4FE4-8448-C50A7DE3117E}" destId="{26A66D74-309D-4BBA-8E09-5C9B28CFDF2E}" srcOrd="1" destOrd="0" parTransId="{1B329025-EDAF-4218-86AA-62522F35244A}" sibTransId="{C09FD523-1F1B-475E-943E-C4720B96705A}"/>
    <dgm:cxn modelId="{8B0C6885-BE4B-4BCF-9497-DF6320D35B4E}" type="presOf" srcId="{8EEA14F2-A7E9-4E1D-8635-E6FD15D0DB6F}" destId="{0660E15C-38C0-460B-A0A4-BC829771B104}" srcOrd="0" destOrd="0" presId="urn:microsoft.com/office/officeart/2018/5/layout/IconLeafLabelList"/>
    <dgm:cxn modelId="{0D7E3B9A-B67F-4144-B4E0-FB5E357ADA01}" srcId="{5A4E9AF4-A798-4FE4-8448-C50A7DE3117E}" destId="{14AB8741-0A94-4F2C-8691-125BAE46B163}" srcOrd="4" destOrd="0" parTransId="{E35D0B1D-D774-4D71-B865-3F7951E82772}" sibTransId="{5A3A5931-DB5B-4756-B764-F4EBA27E1312}"/>
    <dgm:cxn modelId="{1D4F3EB0-35A2-4F8E-8D87-3BFA211662B5}" type="presOf" srcId="{26A66D74-309D-4BBA-8E09-5C9B28CFDF2E}" destId="{9757C1D7-D0A3-4AE1-8B34-6CF7D0362A38}" srcOrd="0" destOrd="0" presId="urn:microsoft.com/office/officeart/2018/5/layout/IconLeafLabelList"/>
    <dgm:cxn modelId="{BC39F0B2-48CF-46CC-B538-1E624F569AB6}" type="presOf" srcId="{FC069362-8A14-4C60-BC23-13425B576C74}" destId="{9DC0E149-F779-4D24-BD2B-E548F5C7B175}" srcOrd="0" destOrd="0" presId="urn:microsoft.com/office/officeart/2018/5/layout/IconLeafLabelList"/>
    <dgm:cxn modelId="{D6A1CCE0-B0E8-41C3-835C-F7A20A9E00AD}" srcId="{5A4E9AF4-A798-4FE4-8448-C50A7DE3117E}" destId="{0818F20C-2944-4789-8332-F13A0E0ADFC2}" srcOrd="0" destOrd="0" parTransId="{FABC1299-D8C8-4731-9F9D-3BD19251D3A6}" sibTransId="{2F075AD7-2C0D-4A6D-9F9D-B723D4687D65}"/>
    <dgm:cxn modelId="{E61837E1-91BE-434E-AE8C-289C6059E98F}" srcId="{5A4E9AF4-A798-4FE4-8448-C50A7DE3117E}" destId="{8EEA14F2-A7E9-4E1D-8635-E6FD15D0DB6F}" srcOrd="5" destOrd="0" parTransId="{F2986E76-386F-4D5D-A482-D5A779C8DACC}" sibTransId="{48F0DAFE-7152-4FDD-959B-4834205D5B87}"/>
    <dgm:cxn modelId="{1C4E9BE7-A47B-4A63-9CEB-6710F0FA490A}" type="presOf" srcId="{14AB8741-0A94-4F2C-8691-125BAE46B163}" destId="{50DE7349-D679-4366-9710-DD243A1246F7}" srcOrd="0" destOrd="0" presId="urn:microsoft.com/office/officeart/2018/5/layout/IconLeafLabelList"/>
    <dgm:cxn modelId="{4C5CE3EE-62F3-4160-8565-347078F72D5E}" type="presOf" srcId="{0818F20C-2944-4789-8332-F13A0E0ADFC2}" destId="{9A6B4010-1CC6-4312-ACCF-460DAF8A4850}" srcOrd="0" destOrd="0" presId="urn:microsoft.com/office/officeart/2018/5/layout/IconLeafLabelList"/>
    <dgm:cxn modelId="{1B75F38D-3B06-4BC9-A29D-2AE6C61A1155}" type="presParOf" srcId="{96443BB2-E51E-44AB-9894-AFA65C8147FB}" destId="{68B9A4AB-2C82-491A-B4D4-C7408FDFA93C}" srcOrd="0" destOrd="0" presId="urn:microsoft.com/office/officeart/2018/5/layout/IconLeafLabelList"/>
    <dgm:cxn modelId="{B82E7E3D-99C4-4081-91E0-028C46016313}" type="presParOf" srcId="{68B9A4AB-2C82-491A-B4D4-C7408FDFA93C}" destId="{94BB536B-846B-4AB4-83C3-0A69FA87B225}" srcOrd="0" destOrd="0" presId="urn:microsoft.com/office/officeart/2018/5/layout/IconLeafLabelList"/>
    <dgm:cxn modelId="{95396F80-3EDD-45F5-B808-13F60564F7FE}" type="presParOf" srcId="{68B9A4AB-2C82-491A-B4D4-C7408FDFA93C}" destId="{E4AD2D4D-89D4-45BE-A62D-57EC24A17E7B}" srcOrd="1" destOrd="0" presId="urn:microsoft.com/office/officeart/2018/5/layout/IconLeafLabelList"/>
    <dgm:cxn modelId="{99E95A73-937A-4134-BD52-F855B93C5092}" type="presParOf" srcId="{68B9A4AB-2C82-491A-B4D4-C7408FDFA93C}" destId="{2C6F4227-E5CC-4690-B328-322624BB6495}" srcOrd="2" destOrd="0" presId="urn:microsoft.com/office/officeart/2018/5/layout/IconLeafLabelList"/>
    <dgm:cxn modelId="{6DB9697E-F321-4E9B-8A17-64005C6D96F5}" type="presParOf" srcId="{68B9A4AB-2C82-491A-B4D4-C7408FDFA93C}" destId="{9A6B4010-1CC6-4312-ACCF-460DAF8A4850}" srcOrd="3" destOrd="0" presId="urn:microsoft.com/office/officeart/2018/5/layout/IconLeafLabelList"/>
    <dgm:cxn modelId="{99D6BFE2-193E-48D6-9FCA-F2BEABBAC5CC}" type="presParOf" srcId="{96443BB2-E51E-44AB-9894-AFA65C8147FB}" destId="{C45B402F-656B-4EE5-9C43-A5BD4817F99D}" srcOrd="1" destOrd="0" presId="urn:microsoft.com/office/officeart/2018/5/layout/IconLeafLabelList"/>
    <dgm:cxn modelId="{96651BCB-1E5E-4F28-8E45-30C182D96F92}" type="presParOf" srcId="{96443BB2-E51E-44AB-9894-AFA65C8147FB}" destId="{F703F2B6-2789-4C31-A2E8-83DFCF6317B6}" srcOrd="2" destOrd="0" presId="urn:microsoft.com/office/officeart/2018/5/layout/IconLeafLabelList"/>
    <dgm:cxn modelId="{F9124251-EDC9-42DE-9AEC-000D4B1FFA32}" type="presParOf" srcId="{F703F2B6-2789-4C31-A2E8-83DFCF6317B6}" destId="{EC9B4F57-4C7C-4840-A3F0-5D76F7A9BE45}" srcOrd="0" destOrd="0" presId="urn:microsoft.com/office/officeart/2018/5/layout/IconLeafLabelList"/>
    <dgm:cxn modelId="{5054B1CF-0F5F-437F-9E59-DC947FE55115}" type="presParOf" srcId="{F703F2B6-2789-4C31-A2E8-83DFCF6317B6}" destId="{30CF3491-1C1A-4FCB-B978-0554B93C5417}" srcOrd="1" destOrd="0" presId="urn:microsoft.com/office/officeart/2018/5/layout/IconLeafLabelList"/>
    <dgm:cxn modelId="{29EDD592-A6CB-4F3A-9D08-7AA7ADF87E07}" type="presParOf" srcId="{F703F2B6-2789-4C31-A2E8-83DFCF6317B6}" destId="{0EF0DA70-2CA7-4B9D-9361-EE456294922B}" srcOrd="2" destOrd="0" presId="urn:microsoft.com/office/officeart/2018/5/layout/IconLeafLabelList"/>
    <dgm:cxn modelId="{AF1799EA-17A5-48ED-82C0-CED2DF007B07}" type="presParOf" srcId="{F703F2B6-2789-4C31-A2E8-83DFCF6317B6}" destId="{9757C1D7-D0A3-4AE1-8B34-6CF7D0362A38}" srcOrd="3" destOrd="0" presId="urn:microsoft.com/office/officeart/2018/5/layout/IconLeafLabelList"/>
    <dgm:cxn modelId="{819C4D89-C667-4AF1-9838-252054325C70}" type="presParOf" srcId="{96443BB2-E51E-44AB-9894-AFA65C8147FB}" destId="{9D059FE8-C415-4460-91B3-5BE9203FB16D}" srcOrd="3" destOrd="0" presId="urn:microsoft.com/office/officeart/2018/5/layout/IconLeafLabelList"/>
    <dgm:cxn modelId="{9EDADECC-8BE5-4695-95CE-3724CF793B97}" type="presParOf" srcId="{96443BB2-E51E-44AB-9894-AFA65C8147FB}" destId="{8AFF467B-7DF5-4451-816B-6B9E8818E9B0}" srcOrd="4" destOrd="0" presId="urn:microsoft.com/office/officeart/2018/5/layout/IconLeafLabelList"/>
    <dgm:cxn modelId="{D5F5CA8C-E8B3-4E33-A7B2-AF0B59F45152}" type="presParOf" srcId="{8AFF467B-7DF5-4451-816B-6B9E8818E9B0}" destId="{F43AC368-69A0-4578-888A-0BEE97C6769D}" srcOrd="0" destOrd="0" presId="urn:microsoft.com/office/officeart/2018/5/layout/IconLeafLabelList"/>
    <dgm:cxn modelId="{B2DA13CE-C1CD-4CB0-BD86-971E3787B461}" type="presParOf" srcId="{8AFF467B-7DF5-4451-816B-6B9E8818E9B0}" destId="{C1676C29-AB90-4056-B8F1-6E35B48D3683}" srcOrd="1" destOrd="0" presId="urn:microsoft.com/office/officeart/2018/5/layout/IconLeafLabelList"/>
    <dgm:cxn modelId="{C48065C9-F57B-493D-ADC4-27B86D6C3BEB}" type="presParOf" srcId="{8AFF467B-7DF5-4451-816B-6B9E8818E9B0}" destId="{2D56966E-923D-4CEA-B898-25EBFA02774A}" srcOrd="2" destOrd="0" presId="urn:microsoft.com/office/officeart/2018/5/layout/IconLeafLabelList"/>
    <dgm:cxn modelId="{DEFC11E3-6C08-4F93-8050-3D3664363F34}" type="presParOf" srcId="{8AFF467B-7DF5-4451-816B-6B9E8818E9B0}" destId="{9DC0E149-F779-4D24-BD2B-E548F5C7B175}" srcOrd="3" destOrd="0" presId="urn:microsoft.com/office/officeart/2018/5/layout/IconLeafLabelList"/>
    <dgm:cxn modelId="{4A19EC58-7280-4C15-989E-53F7402093FD}" type="presParOf" srcId="{96443BB2-E51E-44AB-9894-AFA65C8147FB}" destId="{1369658C-1301-49F0-92C8-41C815A09C4D}" srcOrd="5" destOrd="0" presId="urn:microsoft.com/office/officeart/2018/5/layout/IconLeafLabelList"/>
    <dgm:cxn modelId="{89911A4F-69A3-41D0-85B4-A96282A73ACB}" type="presParOf" srcId="{96443BB2-E51E-44AB-9894-AFA65C8147FB}" destId="{AACB86D2-2EDF-4007-AD4C-B552CAFA4FA0}" srcOrd="6" destOrd="0" presId="urn:microsoft.com/office/officeart/2018/5/layout/IconLeafLabelList"/>
    <dgm:cxn modelId="{578AE476-C4AF-4C75-A1DE-1ED052AEE19A}" type="presParOf" srcId="{AACB86D2-2EDF-4007-AD4C-B552CAFA4FA0}" destId="{52A8FC61-620A-4E0C-951E-79CB7C2305F6}" srcOrd="0" destOrd="0" presId="urn:microsoft.com/office/officeart/2018/5/layout/IconLeafLabelList"/>
    <dgm:cxn modelId="{398220D1-852D-44FB-9D78-12228175B121}" type="presParOf" srcId="{AACB86D2-2EDF-4007-AD4C-B552CAFA4FA0}" destId="{75AE2540-3CEA-4DB6-8CB3-454C8C60738F}" srcOrd="1" destOrd="0" presId="urn:microsoft.com/office/officeart/2018/5/layout/IconLeafLabelList"/>
    <dgm:cxn modelId="{075A1629-0A94-4DAF-B32E-3EEBFB74B1A1}" type="presParOf" srcId="{AACB86D2-2EDF-4007-AD4C-B552CAFA4FA0}" destId="{9C92208C-E50B-45D4-93A1-FD57AB4283F2}" srcOrd="2" destOrd="0" presId="urn:microsoft.com/office/officeart/2018/5/layout/IconLeafLabelList"/>
    <dgm:cxn modelId="{7A4650F5-24FB-4A23-B2DA-196D7961884A}" type="presParOf" srcId="{AACB86D2-2EDF-4007-AD4C-B552CAFA4FA0}" destId="{B8F7953D-DD89-45D9-B2E8-A10B97A2AED9}" srcOrd="3" destOrd="0" presId="urn:microsoft.com/office/officeart/2018/5/layout/IconLeafLabelList"/>
    <dgm:cxn modelId="{477AC6D6-192E-4113-B01A-C8CFA4EFF997}" type="presParOf" srcId="{96443BB2-E51E-44AB-9894-AFA65C8147FB}" destId="{07EE60A1-BD14-4DD1-AEF7-9DF5A3A0312E}" srcOrd="7" destOrd="0" presId="urn:microsoft.com/office/officeart/2018/5/layout/IconLeafLabelList"/>
    <dgm:cxn modelId="{BE7B5983-3110-460E-B6F1-30B5F4E7D657}" type="presParOf" srcId="{96443BB2-E51E-44AB-9894-AFA65C8147FB}" destId="{E50B04CA-E51B-4A62-8851-21F71BA41C00}" srcOrd="8" destOrd="0" presId="urn:microsoft.com/office/officeart/2018/5/layout/IconLeafLabelList"/>
    <dgm:cxn modelId="{53ECDA22-1068-49CF-8A47-9542E7DA9A56}" type="presParOf" srcId="{E50B04CA-E51B-4A62-8851-21F71BA41C00}" destId="{2294D264-5A13-47EC-9F90-C25CD07291ED}" srcOrd="0" destOrd="0" presId="urn:microsoft.com/office/officeart/2018/5/layout/IconLeafLabelList"/>
    <dgm:cxn modelId="{DA48D834-198F-4EE7-8B43-FF79545FA64C}" type="presParOf" srcId="{E50B04CA-E51B-4A62-8851-21F71BA41C00}" destId="{07C1D93F-FCBA-4984-B783-D96438630A30}" srcOrd="1" destOrd="0" presId="urn:microsoft.com/office/officeart/2018/5/layout/IconLeafLabelList"/>
    <dgm:cxn modelId="{38CC19F5-23EA-4B12-AA8E-D25D806F1D92}" type="presParOf" srcId="{E50B04CA-E51B-4A62-8851-21F71BA41C00}" destId="{5C5E6929-CB63-42BD-909D-417B3C8D9156}" srcOrd="2" destOrd="0" presId="urn:microsoft.com/office/officeart/2018/5/layout/IconLeafLabelList"/>
    <dgm:cxn modelId="{FDBB719E-1734-4DA9-9334-F7B344D1BB28}" type="presParOf" srcId="{E50B04CA-E51B-4A62-8851-21F71BA41C00}" destId="{50DE7349-D679-4366-9710-DD243A1246F7}" srcOrd="3" destOrd="0" presId="urn:microsoft.com/office/officeart/2018/5/layout/IconLeafLabelList"/>
    <dgm:cxn modelId="{47F453BC-1B46-4576-ADE7-F95F25B518D8}" type="presParOf" srcId="{96443BB2-E51E-44AB-9894-AFA65C8147FB}" destId="{CE1A110C-B7C6-4362-9D00-4C79EE9C733A}" srcOrd="9" destOrd="0" presId="urn:microsoft.com/office/officeart/2018/5/layout/IconLeafLabelList"/>
    <dgm:cxn modelId="{A77E03EC-FAD9-468D-B9F3-F1D35B9BADEA}" type="presParOf" srcId="{96443BB2-E51E-44AB-9894-AFA65C8147FB}" destId="{3B63E302-503F-4AEF-A257-11D41B198AC3}" srcOrd="10" destOrd="0" presId="urn:microsoft.com/office/officeart/2018/5/layout/IconLeafLabelList"/>
    <dgm:cxn modelId="{7DFCBD0C-B902-4FC8-AF41-F6C3E1B0DC64}" type="presParOf" srcId="{3B63E302-503F-4AEF-A257-11D41B198AC3}" destId="{E56AEE0C-1D54-49A1-860E-4EE8C7098539}" srcOrd="0" destOrd="0" presId="urn:microsoft.com/office/officeart/2018/5/layout/IconLeafLabelList"/>
    <dgm:cxn modelId="{D26B147A-F5A1-46A4-B0BF-F7DA0E6941C1}" type="presParOf" srcId="{3B63E302-503F-4AEF-A257-11D41B198AC3}" destId="{EAACD2C0-A7C7-4AD2-9875-6EDAFFA3CE57}" srcOrd="1" destOrd="0" presId="urn:microsoft.com/office/officeart/2018/5/layout/IconLeafLabelList"/>
    <dgm:cxn modelId="{BC3317DE-8974-4557-99A7-A9B429AF26A3}" type="presParOf" srcId="{3B63E302-503F-4AEF-A257-11D41B198AC3}" destId="{57177806-E6B1-47B5-91CE-5FB866C361DD}" srcOrd="2" destOrd="0" presId="urn:microsoft.com/office/officeart/2018/5/layout/IconLeafLabelList"/>
    <dgm:cxn modelId="{C7E7D9F3-C307-4447-BFD8-9B69E35F89D4}" type="presParOf" srcId="{3B63E302-503F-4AEF-A257-11D41B198AC3}" destId="{0660E15C-38C0-460B-A0A4-BC829771B104}" srcOrd="3" destOrd="0" presId="urn:microsoft.com/office/officeart/2018/5/layout/IconLeaf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BB536B-846B-4AB4-83C3-0A69FA87B225}">
      <dsp:nvSpPr>
        <dsp:cNvPr id="0" name=""/>
        <dsp:cNvSpPr/>
      </dsp:nvSpPr>
      <dsp:spPr>
        <a:xfrm>
          <a:off x="306868" y="580701"/>
          <a:ext cx="957533" cy="957533"/>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AD2D4D-89D4-45BE-A62D-57EC24A17E7B}">
      <dsp:nvSpPr>
        <dsp:cNvPr id="0" name=""/>
        <dsp:cNvSpPr/>
      </dsp:nvSpPr>
      <dsp:spPr>
        <a:xfrm>
          <a:off x="510932" y="784766"/>
          <a:ext cx="549404" cy="5494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A6B4010-1CC6-4312-ACCF-460DAF8A4850}">
      <dsp:nvSpPr>
        <dsp:cNvPr id="0" name=""/>
        <dsp:cNvSpPr/>
      </dsp:nvSpPr>
      <dsp:spPr>
        <a:xfrm>
          <a:off x="771" y="1836483"/>
          <a:ext cx="1569726" cy="1491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SN" sz="1100" kern="1200"/>
            <a:t>La possession de ces donnés permet de passer à la préparation de l'avant-projet, puis à la  réalisation du projet lui-même. Selon la taille de l'entreprise projet l’idée concernant la conception d'une unité transformation doit comprendre deux ou trois grands dossiers: </a:t>
          </a:r>
          <a:endParaRPr lang="en-US" sz="1100" kern="1200"/>
        </a:p>
      </dsp:txBody>
      <dsp:txXfrm>
        <a:off x="771" y="1836483"/>
        <a:ext cx="1569726" cy="1491240"/>
      </dsp:txXfrm>
    </dsp:sp>
    <dsp:sp modelId="{EC9B4F57-4C7C-4840-A3F0-5D76F7A9BE45}">
      <dsp:nvSpPr>
        <dsp:cNvPr id="0" name=""/>
        <dsp:cNvSpPr/>
      </dsp:nvSpPr>
      <dsp:spPr>
        <a:xfrm>
          <a:off x="2151296" y="580701"/>
          <a:ext cx="957533" cy="957533"/>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CF3491-1C1A-4FCB-B978-0554B93C5417}">
      <dsp:nvSpPr>
        <dsp:cNvPr id="0" name=""/>
        <dsp:cNvSpPr/>
      </dsp:nvSpPr>
      <dsp:spPr>
        <a:xfrm>
          <a:off x="2355361" y="784766"/>
          <a:ext cx="549404" cy="5494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757C1D7-D0A3-4AE1-8B34-6CF7D0362A38}">
      <dsp:nvSpPr>
        <dsp:cNvPr id="0" name=""/>
        <dsp:cNvSpPr/>
      </dsp:nvSpPr>
      <dsp:spPr>
        <a:xfrm>
          <a:off x="1845200" y="1836483"/>
          <a:ext cx="1569726" cy="1491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SN" sz="1100" kern="1200"/>
            <a:t>- un dossier technique;</a:t>
          </a:r>
          <a:br>
            <a:rPr lang="fr-SN" sz="1100" kern="1200"/>
          </a:br>
          <a:r>
            <a:rPr lang="fr-SN" sz="1100" kern="1200"/>
            <a:t>- un dossier main-d'œuvre;</a:t>
          </a:r>
          <a:br>
            <a:rPr lang="fr-SN" sz="1100" kern="1200"/>
          </a:br>
          <a:r>
            <a:rPr lang="fr-SN" sz="1100" kern="1200"/>
            <a:t>- un dossier nomique et financier. </a:t>
          </a:r>
          <a:endParaRPr lang="en-US" sz="1100" kern="1200"/>
        </a:p>
      </dsp:txBody>
      <dsp:txXfrm>
        <a:off x="1845200" y="1836483"/>
        <a:ext cx="1569726" cy="1491240"/>
      </dsp:txXfrm>
    </dsp:sp>
    <dsp:sp modelId="{F43AC368-69A0-4578-888A-0BEE97C6769D}">
      <dsp:nvSpPr>
        <dsp:cNvPr id="0" name=""/>
        <dsp:cNvSpPr/>
      </dsp:nvSpPr>
      <dsp:spPr>
        <a:xfrm>
          <a:off x="3995725" y="580701"/>
          <a:ext cx="957533" cy="957533"/>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676C29-AB90-4056-B8F1-6E35B48D3683}">
      <dsp:nvSpPr>
        <dsp:cNvPr id="0" name=""/>
        <dsp:cNvSpPr/>
      </dsp:nvSpPr>
      <dsp:spPr>
        <a:xfrm>
          <a:off x="4199789" y="784766"/>
          <a:ext cx="549404" cy="5494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DC0E149-F779-4D24-BD2B-E548F5C7B175}">
      <dsp:nvSpPr>
        <dsp:cNvPr id="0" name=""/>
        <dsp:cNvSpPr/>
      </dsp:nvSpPr>
      <dsp:spPr>
        <a:xfrm>
          <a:off x="3689628" y="1836483"/>
          <a:ext cx="1569726" cy="1491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SN" sz="1100" kern="1200"/>
            <a:t>Grace aux donnés de base dont il est question, le dossier technique permet de définir: </a:t>
          </a:r>
          <a:endParaRPr lang="en-US" sz="1100" kern="1200"/>
        </a:p>
      </dsp:txBody>
      <dsp:txXfrm>
        <a:off x="3689628" y="1836483"/>
        <a:ext cx="1569726" cy="1491240"/>
      </dsp:txXfrm>
    </dsp:sp>
    <dsp:sp modelId="{52A8FC61-620A-4E0C-951E-79CB7C2305F6}">
      <dsp:nvSpPr>
        <dsp:cNvPr id="0" name=""/>
        <dsp:cNvSpPr/>
      </dsp:nvSpPr>
      <dsp:spPr>
        <a:xfrm>
          <a:off x="5840154" y="580701"/>
          <a:ext cx="957533" cy="957533"/>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AE2540-3CEA-4DB6-8CB3-454C8C60738F}">
      <dsp:nvSpPr>
        <dsp:cNvPr id="0" name=""/>
        <dsp:cNvSpPr/>
      </dsp:nvSpPr>
      <dsp:spPr>
        <a:xfrm>
          <a:off x="6044218" y="784766"/>
          <a:ext cx="549404" cy="54940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8F7953D-DD89-45D9-B2E8-A10B97A2AED9}">
      <dsp:nvSpPr>
        <dsp:cNvPr id="0" name=""/>
        <dsp:cNvSpPr/>
      </dsp:nvSpPr>
      <dsp:spPr>
        <a:xfrm>
          <a:off x="5534057" y="1836483"/>
          <a:ext cx="1569726" cy="1491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SN" sz="1100" kern="1200"/>
            <a:t>- le choix du procédé de fabrication (après comparaison des différentes possibilité permettant de fabriquer le produit final)</a:t>
          </a:r>
          <a:endParaRPr lang="en-US" sz="1100" kern="1200"/>
        </a:p>
      </dsp:txBody>
      <dsp:txXfrm>
        <a:off x="5534057" y="1836483"/>
        <a:ext cx="1569726" cy="1491240"/>
      </dsp:txXfrm>
    </dsp:sp>
    <dsp:sp modelId="{2294D264-5A13-47EC-9F90-C25CD07291ED}">
      <dsp:nvSpPr>
        <dsp:cNvPr id="0" name=""/>
        <dsp:cNvSpPr/>
      </dsp:nvSpPr>
      <dsp:spPr>
        <a:xfrm>
          <a:off x="7684582" y="580701"/>
          <a:ext cx="957533" cy="957533"/>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C1D93F-FCBA-4984-B783-D96438630A30}">
      <dsp:nvSpPr>
        <dsp:cNvPr id="0" name=""/>
        <dsp:cNvSpPr/>
      </dsp:nvSpPr>
      <dsp:spPr>
        <a:xfrm>
          <a:off x="7888647" y="784766"/>
          <a:ext cx="549404" cy="54940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0DE7349-D679-4366-9710-DD243A1246F7}">
      <dsp:nvSpPr>
        <dsp:cNvPr id="0" name=""/>
        <dsp:cNvSpPr/>
      </dsp:nvSpPr>
      <dsp:spPr>
        <a:xfrm>
          <a:off x="7378486" y="1836483"/>
          <a:ext cx="1569726" cy="1491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SN" sz="1100" kern="1200"/>
            <a:t>- le schéma de fabrication ou diagramme;</a:t>
          </a:r>
          <a:br>
            <a:rPr lang="fr-SN" sz="1100" kern="1200"/>
          </a:br>
          <a:r>
            <a:rPr lang="fr-SN" sz="1100" kern="1200"/>
            <a:t>- les bilans “matières”;</a:t>
          </a:r>
          <a:br>
            <a:rPr lang="fr-SN" sz="1100" kern="1200"/>
          </a:br>
          <a:r>
            <a:rPr lang="fr-SN" sz="1100" kern="1200"/>
            <a:t>- la capacite production; </a:t>
          </a:r>
          <a:endParaRPr lang="en-US" sz="1100" kern="1200"/>
        </a:p>
      </dsp:txBody>
      <dsp:txXfrm>
        <a:off x="7378486" y="1836483"/>
        <a:ext cx="1569726" cy="1491240"/>
      </dsp:txXfrm>
    </dsp:sp>
    <dsp:sp modelId="{E56AEE0C-1D54-49A1-860E-4EE8C7098539}">
      <dsp:nvSpPr>
        <dsp:cNvPr id="0" name=""/>
        <dsp:cNvSpPr/>
      </dsp:nvSpPr>
      <dsp:spPr>
        <a:xfrm>
          <a:off x="9529011" y="580701"/>
          <a:ext cx="957533" cy="957533"/>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ACD2C0-A7C7-4AD2-9875-6EDAFFA3CE57}">
      <dsp:nvSpPr>
        <dsp:cNvPr id="0" name=""/>
        <dsp:cNvSpPr/>
      </dsp:nvSpPr>
      <dsp:spPr>
        <a:xfrm>
          <a:off x="9733076" y="784766"/>
          <a:ext cx="549404" cy="54940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660E15C-38C0-460B-A0A4-BC829771B104}">
      <dsp:nvSpPr>
        <dsp:cNvPr id="0" name=""/>
        <dsp:cNvSpPr/>
      </dsp:nvSpPr>
      <dsp:spPr>
        <a:xfrm>
          <a:off x="9222914" y="1836483"/>
          <a:ext cx="1569726" cy="1491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SN" sz="1100" kern="1200"/>
            <a:t>- le plan d'implantation. </a:t>
          </a:r>
          <a:endParaRPr lang="en-US" sz="1100" kern="1200"/>
        </a:p>
      </dsp:txBody>
      <dsp:txXfrm>
        <a:off x="9222914" y="1836483"/>
        <a:ext cx="1569726" cy="149124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fr-FR"/>
              <a:t>Modifiez le style du titre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F7AFFB9B-9FB8-469E-96F9-4D32314110B6}" type="datetimeFigureOut">
              <a:rPr lang="en-US" dirty="0"/>
              <a:t>3/30/24</a:t>
            </a:fld>
            <a:endParaRPr lang="en-US" dirty="0"/>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US" dirty="0"/>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6D22F896-40B5-4ADD-8801-0D06FADFA095}" type="slidenum">
              <a:rPr lang="en-US" dirty="0"/>
              <a:pPr/>
              <a:t>‹N°›</a:t>
            </a:fld>
            <a:endParaRPr lang="en-US" dirty="0"/>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EFBDC27-E420-4878-9EE6-7B9656D6442A}" type="datetimeFigureOut">
              <a:rPr lang="en-US" dirty="0"/>
              <a:t>3/30/24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fr-FR"/>
              <a:t>Modifiez le style du titre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0F7F47CF-67C9-420C-80A5-E2069FF0C2DF}" type="datetimeFigureOut">
              <a:rPr lang="en-US" dirty="0"/>
              <a:t>3/30/24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fr-FR"/>
              <a:t>Modifiez le style du titre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AE22DC73-F065-42F5-A9F2-D90B2E42A0B3}" type="datetimeFigureOut">
              <a:rPr lang="en-US" dirty="0"/>
              <a:t>3/30/24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fr-FR"/>
              <a:t>Modifiez le style du titre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Content Placeholder 3"/>
          <p:cNvSpPr>
            <a:spLocks noGrp="1"/>
          </p:cNvSpPr>
          <p:nvPr>
            <p:ph sz="quarter" idx="13"/>
          </p:nvPr>
        </p:nvSpPr>
        <p:spPr>
          <a:xfrm>
            <a:off x="685802" y="2861733"/>
            <a:ext cx="5088712" cy="2512852"/>
          </a:xfrm>
        </p:spPr>
        <p:txBody>
          <a:bodyPr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3" name="Content Placeholder 5"/>
          <p:cNvSpPr>
            <a:spLocks noGrp="1"/>
          </p:cNvSpPr>
          <p:nvPr>
            <p:ph sz="quarter" idx="14"/>
          </p:nvPr>
        </p:nvSpPr>
        <p:spPr>
          <a:xfrm>
            <a:off x="5993969" y="2861733"/>
            <a:ext cx="5088713" cy="2512852"/>
          </a:xfrm>
        </p:spPr>
        <p:txBody>
          <a:bodyPr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76BEA702-9B29-41CC-9BCC-3DF8A0D379FE}" type="datetimeFigureOut">
              <a:rPr lang="en-US" dirty="0"/>
              <a:t>3/30/24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097649AC-CB8F-4FF1-9A34-5861C74DD0A7}" type="datetimeFigureOut">
              <a:rPr lang="en-US" dirty="0"/>
              <a:t>3/30/24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C5CECA-2D3A-4680-9B49-752200DE467C}" type="datetimeFigureOut">
              <a:rPr lang="en-US" dirty="0"/>
              <a:t>3/30/24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fr-FR"/>
              <a:t>Modifiez le style du titre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0C3BFE2-83B7-4B0A-B9D3-AB28331082B3}" type="datetimeFigureOut">
              <a:rPr lang="en-US" dirty="0"/>
              <a:t>3/30/24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fr-FR"/>
              <a:t>Modifiez le style du titre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12EF78E3-FDA3-4D28-AAA2-0B81F349A39D}" type="datetimeFigureOut">
              <a:rPr lang="en-US" dirty="0"/>
              <a:t>3/30/24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41D2AC3-6A0B-4169-B1EA-E3AE8B351BDD}" type="datetimeFigureOut">
              <a:rPr lang="en-US" dirty="0"/>
              <a:t>3/30/24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fr-FR"/>
              <a:t>Modifiez le style du titre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D4B9363-8B87-41B7-9F8E-64519CBB8F34}" type="datetimeFigureOut">
              <a:rPr lang="en-US" dirty="0"/>
              <a:t>3/30/24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fr-FR"/>
              <a:t>Modifiez le style du titre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AEF5746-5284-4951-9F37-7AE924EDBCB7}" type="datetimeFigureOut">
              <a:rPr lang="en-US" dirty="0"/>
              <a:t>3/30/24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fr-FR"/>
              <a:t>Modifiez le style du titre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02398B29-7265-4A65-A2A4-6703C057B7C1}" type="datetimeFigureOut">
              <a:rPr lang="en-US" dirty="0"/>
              <a:t>3/30/24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fr-FR"/>
              <a:t>Modifiez le style du titre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28FBA082-94DF-4C4B-A041-6624924AB0A8}" type="datetimeFigureOut">
              <a:rPr lang="en-US" dirty="0"/>
              <a:t>3/30/24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fr-FR"/>
              <a:t>Modifiez le style du titre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B27686C4-3AB5-4E0C-86CA-FB108C350AA9}" type="datetimeFigureOut">
              <a:rPr lang="en-US" dirty="0"/>
              <a:t>3/30/24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fr-FR"/>
              <a:t>Modifiez le style du titre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9FF1211-4E0C-4AB3-B04F-585959BDAFE8}" type="datetimeFigureOut">
              <a:rPr lang="en-US" dirty="0"/>
              <a:t>3/30/24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fr-FR"/>
              <a:t>Modifiez le style du titre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8BDECAF-D3BE-4069-9C78-642ECCD01477}" type="datetimeFigureOut">
              <a:rPr lang="en-US" dirty="0"/>
              <a:t>3/30/24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C35BB1C6-BF8F-4481-8AB2-603A1C8A906A}" type="datetimeFigureOut">
              <a:rPr lang="en-US" dirty="0"/>
              <a:t>3/30/24</a:t>
            </a:fld>
            <a:endParaRPr lang="en-US" dirty="0"/>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6D22F896-40B5-4ADD-8801-0D06FADFA09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g"/><Relationship Id="rId7" Type="http://schemas.openxmlformats.org/officeDocument/2006/relationships/diagramColors" Target="../diagrams/colors1.xml"/><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3.jpg"/><Relationship Id="rId7" Type="http://schemas.openxmlformats.org/officeDocument/2006/relationships/image" Target="../media/image22.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ubes connectés avec une ligne rouge">
            <a:extLst>
              <a:ext uri="{FF2B5EF4-FFF2-40B4-BE49-F238E27FC236}">
                <a16:creationId xmlns:a16="http://schemas.microsoft.com/office/drawing/2014/main" id="{3F031128-7F60-E18E-AB4D-985D0BAE1467}"/>
              </a:ext>
            </a:extLst>
          </p:cNvPr>
          <p:cNvPicPr>
            <a:picLocks noChangeAspect="1"/>
          </p:cNvPicPr>
          <p:nvPr/>
        </p:nvPicPr>
        <p:blipFill rotWithShape="1">
          <a:blip r:embed="rId2"/>
          <a:srcRect t="18645" b="8303"/>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CBF37E64-678E-4AAC-82EB-281D0E37B3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0505"/>
            <a:ext cx="9232232" cy="2416682"/>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653C3B5-B723-D859-C570-A3C9A77386FF}"/>
              </a:ext>
            </a:extLst>
          </p:cNvPr>
          <p:cNvSpPr>
            <a:spLocks noGrp="1"/>
          </p:cNvSpPr>
          <p:nvPr>
            <p:ph type="ctrTitle"/>
          </p:nvPr>
        </p:nvSpPr>
        <p:spPr>
          <a:xfrm>
            <a:off x="1303737" y="3593432"/>
            <a:ext cx="7768073" cy="1195136"/>
          </a:xfrm>
        </p:spPr>
        <p:txBody>
          <a:bodyPr>
            <a:normAutofit/>
          </a:bodyPr>
          <a:lstStyle/>
          <a:p>
            <a:r>
              <a:rPr lang="fr-FR" sz="3800">
                <a:solidFill>
                  <a:schemeClr val="tx1"/>
                </a:solidFill>
              </a:rPr>
              <a:t>Conception d’une unité de transformation</a:t>
            </a:r>
          </a:p>
        </p:txBody>
      </p:sp>
      <p:sp>
        <p:nvSpPr>
          <p:cNvPr id="3" name="Sous-titre 2">
            <a:extLst>
              <a:ext uri="{FF2B5EF4-FFF2-40B4-BE49-F238E27FC236}">
                <a16:creationId xmlns:a16="http://schemas.microsoft.com/office/drawing/2014/main" id="{E4E324CF-A9CB-F1F9-A35D-C89A1D61803F}"/>
              </a:ext>
            </a:extLst>
          </p:cNvPr>
          <p:cNvSpPr>
            <a:spLocks noGrp="1"/>
          </p:cNvSpPr>
          <p:nvPr>
            <p:ph type="subTitle" idx="1"/>
          </p:nvPr>
        </p:nvSpPr>
        <p:spPr>
          <a:xfrm>
            <a:off x="1315453" y="4788568"/>
            <a:ext cx="7756356" cy="400939"/>
          </a:xfrm>
        </p:spPr>
        <p:txBody>
          <a:bodyPr>
            <a:normAutofit/>
          </a:bodyPr>
          <a:lstStyle/>
          <a:p>
            <a:pPr>
              <a:lnSpc>
                <a:spcPct val="110000"/>
              </a:lnSpc>
            </a:pPr>
            <a:r>
              <a:rPr lang="fr-FR" sz="2000">
                <a:solidFill>
                  <a:schemeClr val="tx1"/>
                </a:solidFill>
              </a:rPr>
              <a:t>Locaux conforme aux règlements/premier démarche FRA </a:t>
            </a:r>
          </a:p>
        </p:txBody>
      </p:sp>
      <p:sp>
        <p:nvSpPr>
          <p:cNvPr id="11" name="5-Point Star 12">
            <a:extLst>
              <a:ext uri="{FF2B5EF4-FFF2-40B4-BE49-F238E27FC236}">
                <a16:creationId xmlns:a16="http://schemas.microsoft.com/office/drawing/2014/main" id="{3F315017-1C57-42D9-9FFB-A9CFD97F95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3590" y="3874678"/>
            <a:ext cx="788274" cy="730476"/>
          </a:xfrm>
          <a:prstGeom prst="star5">
            <a:avLst>
              <a:gd name="adj" fmla="val 25889"/>
              <a:gd name="hf" fmla="val 105146"/>
              <a:gd name="vf" fmla="val 110557"/>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154580179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5E4C458-7FA6-0CAA-2867-38DA33BBDAF3}"/>
              </a:ext>
            </a:extLst>
          </p:cNvPr>
          <p:cNvSpPr txBox="1"/>
          <p:nvPr/>
        </p:nvSpPr>
        <p:spPr>
          <a:xfrm>
            <a:off x="541867" y="440267"/>
            <a:ext cx="10871200" cy="6001643"/>
          </a:xfrm>
          <a:prstGeom prst="rect">
            <a:avLst/>
          </a:prstGeom>
          <a:noFill/>
        </p:spPr>
        <p:txBody>
          <a:bodyPr wrap="square" rtlCol="0">
            <a:spAutoFit/>
          </a:bodyPr>
          <a:lstStyle/>
          <a:p>
            <a:r>
              <a:rPr lang="fr-FR" sz="2400" dirty="0"/>
              <a:t>Introduction</a:t>
            </a:r>
          </a:p>
          <a:p>
            <a:r>
              <a:rPr lang="fr-SN" sz="2400" dirty="0">
                <a:effectLst/>
                <a:latin typeface="TimesNewRomanPSMT"/>
              </a:rPr>
              <a:t>Lors </a:t>
            </a:r>
            <a:r>
              <a:rPr lang="fr-SN" sz="2400" dirty="0"/>
              <a:t> </a:t>
            </a:r>
            <a:r>
              <a:rPr lang="fr-SN" sz="2400" dirty="0">
                <a:effectLst/>
                <a:latin typeface="TimesNewRomanPSMT"/>
              </a:rPr>
              <a:t>de la conception d'un projet d'</a:t>
            </a:r>
            <a:r>
              <a:rPr lang="fr-SN" sz="2400" dirty="0" err="1">
                <a:effectLst/>
                <a:latin typeface="TimesNewRomanPSMT"/>
              </a:rPr>
              <a:t>unite</a:t>
            </a:r>
            <a:r>
              <a:rPr lang="fr-SN" sz="2400" dirty="0">
                <a:effectLst/>
                <a:latin typeface="TimesNewRomanPSMT"/>
              </a:rPr>
              <a:t> transformation agro-industrielle, la connaissance d'un certain nombre de donnés de base est indispensable pour que l'usine projet soit rentable et adapté à l’environnement. </a:t>
            </a:r>
          </a:p>
          <a:p>
            <a:r>
              <a:rPr lang="fr-SN" sz="2400" dirty="0">
                <a:effectLst/>
                <a:latin typeface="TimesNewRomanPSMT"/>
              </a:rPr>
              <a:t>L'acquisition des donnés de base doit porter sur des objets aussi divers que: </a:t>
            </a:r>
          </a:p>
          <a:p>
            <a:r>
              <a:rPr lang="fr-SN" sz="2400" dirty="0">
                <a:effectLst/>
                <a:latin typeface="TimesNewRomanPSMT"/>
              </a:rPr>
              <a:t>- l'environnement </a:t>
            </a:r>
            <a:r>
              <a:rPr lang="fr-SN" sz="2400" dirty="0">
                <a:latin typeface="TimesNewRomanPSMT"/>
              </a:rPr>
              <a:t>c</a:t>
            </a:r>
            <a:r>
              <a:rPr lang="fr-SN" sz="2400" dirty="0">
                <a:effectLst/>
                <a:latin typeface="TimesNewRomanPSMT"/>
              </a:rPr>
              <a:t>limatique et humain;</a:t>
            </a:r>
            <a:br>
              <a:rPr lang="fr-SN" sz="2400" dirty="0">
                <a:effectLst/>
                <a:latin typeface="TimesNewRomanPSMT"/>
              </a:rPr>
            </a:br>
            <a:r>
              <a:rPr lang="fr-SN" sz="2400" dirty="0">
                <a:effectLst/>
                <a:latin typeface="TimesNewRomanPSMT"/>
              </a:rPr>
              <a:t>- le principe de marche en avant;</a:t>
            </a:r>
            <a:br>
              <a:rPr lang="fr-SN" sz="2400" dirty="0">
                <a:effectLst/>
                <a:latin typeface="TimesNewRomanPSMT"/>
              </a:rPr>
            </a:br>
            <a:r>
              <a:rPr lang="fr-SN" sz="2400" dirty="0">
                <a:effectLst/>
                <a:latin typeface="TimesNewRomanPSMT"/>
              </a:rPr>
              <a:t>- la main-d'œuvre et les matériels du travail; </a:t>
            </a:r>
            <a:endParaRPr lang="fr-SN" sz="2400" dirty="0">
              <a:effectLst/>
            </a:endParaRPr>
          </a:p>
          <a:p>
            <a:r>
              <a:rPr lang="fr-SN" sz="2400" dirty="0">
                <a:effectLst/>
                <a:latin typeface="TimesNewRomanPSMT"/>
              </a:rPr>
              <a:t>- la disponibilité de l'eau, etc.;</a:t>
            </a:r>
            <a:br>
              <a:rPr lang="fr-SN" sz="2400" dirty="0">
                <a:effectLst/>
                <a:latin typeface="TimesNewRomanPSMT"/>
              </a:rPr>
            </a:br>
            <a:r>
              <a:rPr lang="fr-SN" sz="2400" dirty="0">
                <a:effectLst/>
                <a:latin typeface="TimesNewRomanPSMT"/>
              </a:rPr>
              <a:t>- les structures de la production et les disponibilités matières premières;</a:t>
            </a:r>
            <a:br>
              <a:rPr lang="fr-SN" sz="2400" dirty="0">
                <a:effectLst/>
                <a:latin typeface="TimesNewRomanPSMT"/>
              </a:rPr>
            </a:br>
            <a:r>
              <a:rPr lang="fr-SN" sz="2400" dirty="0">
                <a:effectLst/>
                <a:latin typeface="TimesNewRomanPSMT"/>
              </a:rPr>
              <a:t>- l'infrastructure locale et les conditions de transport;</a:t>
            </a:r>
            <a:br>
              <a:rPr lang="fr-SN" sz="2400" dirty="0">
                <a:effectLst/>
                <a:latin typeface="TimesNewRomanPSMT"/>
              </a:rPr>
            </a:br>
            <a:r>
              <a:rPr lang="fr-SN" sz="2400" dirty="0">
                <a:effectLst/>
                <a:latin typeface="TimesNewRomanPSMT"/>
              </a:rPr>
              <a:t>- les utilisations potentielles des sous-produits, l’élimination des déchets et le traitement des eaux si nécessaire;</a:t>
            </a:r>
          </a:p>
          <a:p>
            <a:r>
              <a:rPr lang="fr-SN" sz="2400" dirty="0">
                <a:effectLst/>
                <a:latin typeface="TimesNewRomanPSMT"/>
              </a:rPr>
              <a:t>- les normes respecter et la installation locale. </a:t>
            </a:r>
            <a:endParaRPr lang="fr-SN" sz="2400" dirty="0">
              <a:effectLst/>
            </a:endParaRPr>
          </a:p>
          <a:p>
            <a:endParaRPr lang="fr-SN" sz="2400" dirty="0">
              <a:effectLst/>
            </a:endParaRPr>
          </a:p>
          <a:p>
            <a:endParaRPr lang="fr-FR" sz="2400" dirty="0"/>
          </a:p>
        </p:txBody>
      </p:sp>
    </p:spTree>
    <p:extLst>
      <p:ext uri="{BB962C8B-B14F-4D97-AF65-F5344CB8AC3E}">
        <p14:creationId xmlns:p14="http://schemas.microsoft.com/office/powerpoint/2010/main" val="77730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691BDF7-74ED-406A-8A22-22721EE5FB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a:extLst>
              <a:ext uri="{FF2B5EF4-FFF2-40B4-BE49-F238E27FC236}">
                <a16:creationId xmlns:a16="http://schemas.microsoft.com/office/drawing/2014/main" id="{13544B1A-9E28-4189-AE12-8CDBA2C0FA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397" y="0"/>
            <a:ext cx="12005350" cy="6644081"/>
            <a:chOff x="-25397" y="0"/>
            <a:chExt cx="12005350" cy="6644081"/>
          </a:xfrm>
        </p:grpSpPr>
        <p:sp useBgFill="1">
          <p:nvSpPr>
            <p:cNvPr id="11" name="Rectangle 10">
              <a:extLst>
                <a:ext uri="{FF2B5EF4-FFF2-40B4-BE49-F238E27FC236}">
                  <a16:creationId xmlns:a16="http://schemas.microsoft.com/office/drawing/2014/main" id="{2B6A25A0-6CD9-45B3-A42D-509D3E2F2C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2" name="Freeform 11">
              <a:extLst>
                <a:ext uri="{FF2B5EF4-FFF2-40B4-BE49-F238E27FC236}">
                  <a16:creationId xmlns:a16="http://schemas.microsoft.com/office/drawing/2014/main" id="{28AFC8E5-EE69-4EDA-9BAA-D9650668B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fr-FR"/>
            </a:p>
          </p:txBody>
        </p:sp>
        <p:sp>
          <p:nvSpPr>
            <p:cNvPr id="13" name="Rectangle 12">
              <a:extLst>
                <a:ext uri="{FF2B5EF4-FFF2-40B4-BE49-F238E27FC236}">
                  <a16:creationId xmlns:a16="http://schemas.microsoft.com/office/drawing/2014/main" id="{F71EE848-149F-4FB9-B7EF-229308554F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fr-FR"/>
            </a:p>
          </p:txBody>
        </p:sp>
      </p:grpSp>
      <p:sp useBgFill="1">
        <p:nvSpPr>
          <p:cNvPr id="15" name="Rectangle 14">
            <a:extLst>
              <a:ext uri="{FF2B5EF4-FFF2-40B4-BE49-F238E27FC236}">
                <a16:creationId xmlns:a16="http://schemas.microsoft.com/office/drawing/2014/main" id="{1C4DAAB9-1F6E-44A6-8EBD-11AA857B20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ZoneTexte 1">
            <a:extLst>
              <a:ext uri="{FF2B5EF4-FFF2-40B4-BE49-F238E27FC236}">
                <a16:creationId xmlns:a16="http://schemas.microsoft.com/office/drawing/2014/main" id="{6AA906EE-EDBD-D570-A88D-A8FE86EB54E6}"/>
              </a:ext>
            </a:extLst>
          </p:cNvPr>
          <p:cNvGraphicFramePr/>
          <p:nvPr>
            <p:extLst>
              <p:ext uri="{D42A27DB-BD31-4B8C-83A1-F6EECF244321}">
                <p14:modId xmlns:p14="http://schemas.microsoft.com/office/powerpoint/2010/main" val="2504859670"/>
              </p:ext>
            </p:extLst>
          </p:nvPr>
        </p:nvGraphicFramePr>
        <p:xfrm>
          <a:off x="685800" y="2063750"/>
          <a:ext cx="10793413" cy="39084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2746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8E47A9AB-6336-0CB6-2DE1-8C147F2301C6}"/>
              </a:ext>
            </a:extLst>
          </p:cNvPr>
          <p:cNvSpPr txBox="1"/>
          <p:nvPr/>
        </p:nvSpPr>
        <p:spPr>
          <a:xfrm>
            <a:off x="569843" y="357809"/>
            <a:ext cx="10933044" cy="5847755"/>
          </a:xfrm>
          <a:prstGeom prst="rect">
            <a:avLst/>
          </a:prstGeom>
          <a:noFill/>
        </p:spPr>
        <p:txBody>
          <a:bodyPr wrap="square" rtlCol="0">
            <a:spAutoFit/>
          </a:bodyPr>
          <a:lstStyle/>
          <a:p>
            <a:r>
              <a:rPr lang="fr-FR" dirty="0"/>
              <a:t>Le dossier technique permet à la fois de connaitre les besoins en matériels et intrants</a:t>
            </a:r>
          </a:p>
          <a:p>
            <a:endParaRPr lang="fr-FR" dirty="0"/>
          </a:p>
          <a:p>
            <a:r>
              <a:rPr lang="fr-SN" sz="2000" dirty="0">
                <a:effectLst/>
                <a:latin typeface="TimesNewRomanPSMT"/>
              </a:rPr>
              <a:t>Dans l'exemple choisi: </a:t>
            </a:r>
            <a:endParaRPr lang="fr-SN" sz="2000" dirty="0">
              <a:effectLst/>
            </a:endParaRPr>
          </a:p>
          <a:p>
            <a:r>
              <a:rPr lang="fr-SN" sz="2000" dirty="0">
                <a:effectLst/>
                <a:latin typeface="TimesNewRomanPSMT"/>
              </a:rPr>
              <a:t>- l'usine est implantée dans une zone fruitier dont le calendrier de production des espèces de fruits correspond; </a:t>
            </a:r>
            <a:endParaRPr lang="fr-SN" sz="2000" dirty="0">
              <a:effectLst/>
            </a:endParaRPr>
          </a:p>
          <a:p>
            <a:r>
              <a:rPr lang="fr-SN" sz="2000" dirty="0">
                <a:effectLst/>
                <a:latin typeface="TimesNewRomanPSMT"/>
              </a:rPr>
              <a:t>- l'usine doit fabriquer des confitures et des marmelades de mangues, d'oranges, de goyaves, de pommes de cajou, de papayes, de tamarins, de corossols, de noix de coco, de bananes, d'ananas ainsi que des gel de grenadilles, de goyaves et d'agrumes, et cela grâce</a:t>
            </a:r>
            <a:r>
              <a:rPr lang="fr-SN" sz="2000" dirty="0">
                <a:latin typeface="TimesNewRomanPSMT"/>
              </a:rPr>
              <a:t> à la </a:t>
            </a:r>
            <a:r>
              <a:rPr lang="fr-SN" sz="2000" dirty="0">
                <a:effectLst/>
                <a:latin typeface="TimesNewRomanPSMT"/>
              </a:rPr>
              <a:t>polyvalence de son matériel</a:t>
            </a:r>
            <a:endParaRPr lang="fr-SN" sz="2000" dirty="0">
              <a:effectLst/>
            </a:endParaRPr>
          </a:p>
          <a:p>
            <a:r>
              <a:rPr lang="fr-SN" sz="2000" dirty="0">
                <a:effectLst/>
                <a:latin typeface="TimesNewRomanPSMT"/>
              </a:rPr>
              <a:t>- l'usine va travailler pendant 12 mois saison de 8 h par jour et de 6 jours par semaine, soit pendant 300 jours environ; </a:t>
            </a:r>
            <a:endParaRPr lang="fr-SN" sz="2000" dirty="0">
              <a:effectLst/>
            </a:endParaRPr>
          </a:p>
          <a:p>
            <a:r>
              <a:rPr lang="fr-SN" sz="2000" dirty="0">
                <a:effectLst/>
                <a:latin typeface="TimesNewRomanPSMT"/>
              </a:rPr>
              <a:t>- la capacité effective de production est de 150 kg de confitures par heure nécessitant 90 kg/h de fruits frais pour ce qui correspond les quantités variables de produits frais selon l’espèces de fruit considérée (165 kg d'ananas frais ou 120 kg de mangues par heure, par exemple); </a:t>
            </a:r>
          </a:p>
          <a:p>
            <a:r>
              <a:rPr lang="fr-SN" sz="2000" dirty="0">
                <a:effectLst/>
                <a:latin typeface="TimesNewRomanPSMT"/>
              </a:rPr>
              <a:t>- les confitures, les gel et les marmelades sont conditionné en pots de 500 g et 1 kg serties(fermer) manuellement, les pots de fruits sont enrobés et mises à main en cartons de 600 g. Seul le remplissage chaud des pots de confitures et de gel qui doit être</a:t>
            </a:r>
            <a:r>
              <a:rPr lang="fr-SN" sz="2000" dirty="0">
                <a:latin typeface="TimesNewRomanPSMT"/>
              </a:rPr>
              <a:t> nécessairement</a:t>
            </a:r>
            <a:r>
              <a:rPr lang="fr-SN" sz="2000" dirty="0">
                <a:effectLst/>
                <a:latin typeface="TimesNewRomanPSMT"/>
              </a:rPr>
              <a:t> effectué l'aide d'une doseuse semi-automatique. </a:t>
            </a:r>
            <a:endParaRPr lang="fr-SN" sz="2000" dirty="0">
              <a:effectLst/>
            </a:endParaRPr>
          </a:p>
          <a:p>
            <a:endParaRPr lang="fr-SN" sz="2000" dirty="0">
              <a:effectLst/>
            </a:endParaRPr>
          </a:p>
          <a:p>
            <a:endParaRPr lang="fr-FR" dirty="0"/>
          </a:p>
        </p:txBody>
      </p:sp>
    </p:spTree>
    <p:extLst>
      <p:ext uri="{BB962C8B-B14F-4D97-AF65-F5344CB8AC3E}">
        <p14:creationId xmlns:p14="http://schemas.microsoft.com/office/powerpoint/2010/main" val="35781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F7EAA772-6FE1-FCF4-1F5A-B5B9076FDF8F}"/>
              </a:ext>
            </a:extLst>
          </p:cNvPr>
          <p:cNvSpPr txBox="1"/>
          <p:nvPr/>
        </p:nvSpPr>
        <p:spPr>
          <a:xfrm>
            <a:off x="238539" y="198781"/>
            <a:ext cx="11118573" cy="5940088"/>
          </a:xfrm>
          <a:prstGeom prst="rect">
            <a:avLst/>
          </a:prstGeom>
          <a:noFill/>
        </p:spPr>
        <p:txBody>
          <a:bodyPr wrap="square" rtlCol="0">
            <a:spAutoFit/>
          </a:bodyPr>
          <a:lstStyle/>
          <a:p>
            <a:r>
              <a:rPr lang="fr-FR" sz="2000" dirty="0"/>
              <a:t>Bilan matières premières</a:t>
            </a:r>
          </a:p>
          <a:p>
            <a:endParaRPr lang="fr-FR" sz="2000" dirty="0"/>
          </a:p>
          <a:p>
            <a:r>
              <a:rPr lang="fr-SN" sz="2000" dirty="0">
                <a:effectLst/>
                <a:latin typeface="TimesNewRomanPSMT"/>
              </a:rPr>
              <a:t>Il s'agit de connaitre avec précision les besoins en matières premières et en matières annexes (sucre, acide, pectine), les besoins en eau ainsi que les besoins en emballages (bouteilles, bocaux, couvercles, capsules, cartons, etc.). </a:t>
            </a:r>
          </a:p>
          <a:p>
            <a:endParaRPr lang="fr-SN" sz="2000" dirty="0">
              <a:latin typeface="TimesNewRomanPSMT"/>
            </a:endParaRPr>
          </a:p>
          <a:p>
            <a:r>
              <a:rPr lang="fr-FR" sz="2000" dirty="0"/>
              <a:t>Bilan main d’œuvre et organisation du travail</a:t>
            </a:r>
          </a:p>
          <a:p>
            <a:r>
              <a:rPr lang="fr-SN" sz="2000" dirty="0">
                <a:effectLst/>
                <a:latin typeface="TimesNewRomanPSMT"/>
              </a:rPr>
              <a:t>Le personnel sera donc affectueux divers postes en fonction des besoins momentanément  </a:t>
            </a:r>
            <a:endParaRPr lang="fr-SN" sz="2000" dirty="0">
              <a:effectLst/>
            </a:endParaRPr>
          </a:p>
          <a:p>
            <a:r>
              <a:rPr lang="fr-SN" sz="2000" dirty="0">
                <a:effectLst/>
                <a:latin typeface="TimesNewRomanPSMT"/>
              </a:rPr>
              <a:t>Par ailleurs, certaines postes ne concernent qu'un seul type de produit fini ou qu'une seule espèces fruits; on </a:t>
            </a:r>
            <a:r>
              <a:rPr lang="fr-SN" sz="2000" dirty="0" err="1">
                <a:effectLst/>
                <a:latin typeface="TimesNewRomanPSMT"/>
              </a:rPr>
              <a:t>nomise</a:t>
            </a:r>
            <a:r>
              <a:rPr lang="fr-SN" sz="2000" dirty="0">
                <a:effectLst/>
                <a:latin typeface="TimesNewRomanPSMT"/>
              </a:rPr>
              <a:t> de ce fait de la main-d'œuvre que l'on peut affecter d'autres activités.</a:t>
            </a:r>
          </a:p>
          <a:p>
            <a:endParaRPr lang="fr-SN" sz="2000" dirty="0">
              <a:effectLst/>
            </a:endParaRPr>
          </a:p>
          <a:p>
            <a:r>
              <a:rPr lang="fr-SN" sz="2000" dirty="0">
                <a:effectLst/>
                <a:latin typeface="TimesNewRomanPSMT"/>
              </a:rPr>
              <a:t>Dans ces conditions, on peut </a:t>
            </a:r>
            <a:r>
              <a:rPr lang="fr-SN" sz="2000" dirty="0" err="1">
                <a:effectLst/>
                <a:latin typeface="TimesNewRomanPSMT"/>
              </a:rPr>
              <a:t>luer</a:t>
            </a:r>
            <a:r>
              <a:rPr lang="fr-SN" sz="2000" dirty="0">
                <a:effectLst/>
                <a:latin typeface="TimesNewRomanPSMT"/>
              </a:rPr>
              <a:t> les besoins globaux de l'usine en main-d'œuvre environ: </a:t>
            </a:r>
            <a:endParaRPr lang="fr-SN" sz="2000" dirty="0">
              <a:effectLst/>
            </a:endParaRPr>
          </a:p>
          <a:p>
            <a:r>
              <a:rPr lang="fr-SN" sz="2000" dirty="0">
                <a:effectLst/>
                <a:latin typeface="TimesNewRomanPSMT"/>
              </a:rPr>
              <a:t>- 25-30 ouvriers pour la préparation des fruits; </a:t>
            </a:r>
          </a:p>
          <a:p>
            <a:r>
              <a:rPr lang="fr-SN" sz="2000" dirty="0">
                <a:effectLst/>
                <a:latin typeface="TimesNewRomanPSMT"/>
              </a:rPr>
              <a:t>- un ouvrier pour surveiller la cuisson;</a:t>
            </a:r>
            <a:br>
              <a:rPr lang="fr-SN" sz="2000" dirty="0">
                <a:effectLst/>
                <a:latin typeface="TimesNewRomanPSMT"/>
              </a:rPr>
            </a:br>
            <a:r>
              <a:rPr lang="fr-SN" sz="2000" dirty="0">
                <a:effectLst/>
                <a:latin typeface="TimesNewRomanPSMT"/>
              </a:rPr>
              <a:t>- 7 à 12 ouvriers pour les post-traitements, </a:t>
            </a:r>
            <a:endParaRPr lang="fr-SN" sz="2000" dirty="0">
              <a:effectLst/>
            </a:endParaRPr>
          </a:p>
          <a:p>
            <a:r>
              <a:rPr lang="fr-SN" sz="2000" dirty="0">
                <a:effectLst/>
                <a:latin typeface="TimesNewRomanPSMT"/>
              </a:rPr>
              <a:t>soit une quarantaine de personnes au total, y compris un chef d'atelier charge l'organisation et du contrôle de la production, de l'entretien, du drainage et de la surveillance de la main-d'œuvre</a:t>
            </a:r>
            <a:r>
              <a:rPr lang="fr-SN" dirty="0">
                <a:effectLst/>
                <a:latin typeface="TimesNewRomanPSMT"/>
              </a:rPr>
              <a:t>. </a:t>
            </a:r>
            <a:endParaRPr lang="fr-SN" dirty="0">
              <a:effectLst/>
            </a:endParaRPr>
          </a:p>
          <a:p>
            <a:endParaRPr lang="fr-SN" b="1" dirty="0">
              <a:effectLst/>
            </a:endParaRPr>
          </a:p>
          <a:p>
            <a:endParaRPr lang="fr-FR" dirty="0"/>
          </a:p>
        </p:txBody>
      </p:sp>
    </p:spTree>
    <p:extLst>
      <p:ext uri="{BB962C8B-B14F-4D97-AF65-F5344CB8AC3E}">
        <p14:creationId xmlns:p14="http://schemas.microsoft.com/office/powerpoint/2010/main" val="979774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F5E1885-4B77-4930-AF94-83DC34F516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Rectangle 11">
            <a:extLst>
              <a:ext uri="{FF2B5EF4-FFF2-40B4-BE49-F238E27FC236}">
                <a16:creationId xmlns:a16="http://schemas.microsoft.com/office/drawing/2014/main" id="{12CED8F1-A066-4193-A0C6-FA32AABA2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4" name="Rectangle 13">
            <a:extLst>
              <a:ext uri="{FF2B5EF4-FFF2-40B4-BE49-F238E27FC236}">
                <a16:creationId xmlns:a16="http://schemas.microsoft.com/office/drawing/2014/main" id="{6FC2AD83-6F23-413C-AD90-9F32AF8275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28" y="6581"/>
            <a:ext cx="11741281" cy="56002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367BE40-CEB0-42C0-A019-83612A9D1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527" y="6581"/>
            <a:ext cx="5051254" cy="5600215"/>
          </a:xfrm>
          <a:prstGeom prst="rect">
            <a:avLst/>
          </a:prstGeom>
          <a:gradFill flip="none" rotWithShape="1">
            <a:gsLst>
              <a:gs pos="0">
                <a:schemeClr val="tx1">
                  <a:alpha val="0"/>
                </a:schemeClr>
              </a:gs>
              <a:gs pos="54900">
                <a:srgbClr val="000000">
                  <a:alpha val="10000"/>
                </a:srgbClr>
              </a:gs>
              <a:gs pos="100000">
                <a:schemeClr val="tx1">
                  <a:alpha val="3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3A1CF79-E584-4525-AB80-C5E826445E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80499" y="0"/>
            <a:ext cx="5051254" cy="5600215"/>
          </a:xfrm>
          <a:prstGeom prst="rect">
            <a:avLst/>
          </a:prstGeom>
          <a:gradFill flip="none" rotWithShape="1">
            <a:gsLst>
              <a:gs pos="0">
                <a:schemeClr val="tx1">
                  <a:alpha val="0"/>
                </a:schemeClr>
              </a:gs>
              <a:gs pos="54900">
                <a:srgbClr val="000000">
                  <a:alpha val="10000"/>
                </a:srgbClr>
              </a:gs>
              <a:gs pos="100000">
                <a:schemeClr val="tx1">
                  <a:alpha val="3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DFF68DC-7619-4C0C-B291-0018372D2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600215"/>
            <a:ext cx="1173175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2" name="Freeform 9">
            <a:extLst>
              <a:ext uri="{FF2B5EF4-FFF2-40B4-BE49-F238E27FC236}">
                <a16:creationId xmlns:a16="http://schemas.microsoft.com/office/drawing/2014/main" id="{5003435F-4995-49A0-9B3D-4955D2822A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63766"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fr-FR"/>
          </a:p>
        </p:txBody>
      </p:sp>
      <p:graphicFrame>
        <p:nvGraphicFramePr>
          <p:cNvPr id="3" name="Tableau 2">
            <a:extLst>
              <a:ext uri="{FF2B5EF4-FFF2-40B4-BE49-F238E27FC236}">
                <a16:creationId xmlns:a16="http://schemas.microsoft.com/office/drawing/2014/main" id="{06A593DC-41D1-29C3-9207-D968C7C94683}"/>
              </a:ext>
            </a:extLst>
          </p:cNvPr>
          <p:cNvGraphicFramePr>
            <a:graphicFrameLocks noGrp="1"/>
          </p:cNvGraphicFramePr>
          <p:nvPr>
            <p:extLst>
              <p:ext uri="{D42A27DB-BD31-4B8C-83A1-F6EECF244321}">
                <p14:modId xmlns:p14="http://schemas.microsoft.com/office/powerpoint/2010/main" val="1389738388"/>
              </p:ext>
            </p:extLst>
          </p:nvPr>
        </p:nvGraphicFramePr>
        <p:xfrm>
          <a:off x="0" y="6581"/>
          <a:ext cx="10829924" cy="5593644"/>
        </p:xfrm>
        <a:graphic>
          <a:graphicData uri="http://schemas.openxmlformats.org/drawingml/2006/table">
            <a:tbl>
              <a:tblPr>
                <a:noFill/>
                <a:tableStyleId>{5C22544A-7EE6-4342-B048-85BDC9FD1C3A}</a:tableStyleId>
              </a:tblPr>
              <a:tblGrid>
                <a:gridCol w="1720302">
                  <a:extLst>
                    <a:ext uri="{9D8B030D-6E8A-4147-A177-3AD203B41FA5}">
                      <a16:colId xmlns:a16="http://schemas.microsoft.com/office/drawing/2014/main" val="1084239560"/>
                    </a:ext>
                  </a:extLst>
                </a:gridCol>
                <a:gridCol w="1935745">
                  <a:extLst>
                    <a:ext uri="{9D8B030D-6E8A-4147-A177-3AD203B41FA5}">
                      <a16:colId xmlns:a16="http://schemas.microsoft.com/office/drawing/2014/main" val="1620995969"/>
                    </a:ext>
                  </a:extLst>
                </a:gridCol>
                <a:gridCol w="5550479">
                  <a:extLst>
                    <a:ext uri="{9D8B030D-6E8A-4147-A177-3AD203B41FA5}">
                      <a16:colId xmlns:a16="http://schemas.microsoft.com/office/drawing/2014/main" val="806360787"/>
                    </a:ext>
                  </a:extLst>
                </a:gridCol>
                <a:gridCol w="1623398">
                  <a:extLst>
                    <a:ext uri="{9D8B030D-6E8A-4147-A177-3AD203B41FA5}">
                      <a16:colId xmlns:a16="http://schemas.microsoft.com/office/drawing/2014/main" val="1268738097"/>
                    </a:ext>
                  </a:extLst>
                </a:gridCol>
              </a:tblGrid>
              <a:tr h="260903">
                <a:tc>
                  <a:txBody>
                    <a:bodyPr/>
                    <a:lstStyle/>
                    <a:p>
                      <a:pPr algn="l" fontAlgn="b"/>
                      <a:r>
                        <a:rPr lang="fr-SN" sz="700" u="none" strike="noStrike">
                          <a:solidFill>
                            <a:schemeClr val="tx1">
                              <a:lumMod val="85000"/>
                              <a:lumOff val="15000"/>
                            </a:schemeClr>
                          </a:solidFill>
                          <a:effectLst/>
                        </a:rPr>
                        <a:t>Domination</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12700" cmpd="sng">
                      <a:no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12700" cmpd="sng">
                      <a:no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Quantité consommation/an</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12700" cmpd="sng">
                      <a:no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Prix unitaire</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12700" cmpd="sng">
                      <a:no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117843638"/>
                  </a:ext>
                </a:extLst>
              </a:tr>
              <a:tr h="260903">
                <a:tc>
                  <a:txBody>
                    <a:bodyPr/>
                    <a:lstStyle/>
                    <a:p>
                      <a:pPr algn="l" fontAlgn="b"/>
                      <a:r>
                        <a:rPr lang="fr-SN" sz="700" u="none" strike="noStrike">
                          <a:solidFill>
                            <a:schemeClr val="tx1">
                              <a:lumMod val="85000"/>
                              <a:lumOff val="15000"/>
                            </a:schemeClr>
                          </a:solidFill>
                          <a:effectLst/>
                        </a:rPr>
                        <a:t>Matières </a:t>
                      </a:r>
                      <a:r>
                        <a:rPr lang="fr-SN" sz="700" u="none" strike="noStrike" err="1">
                          <a:solidFill>
                            <a:schemeClr val="tx1">
                              <a:lumMod val="85000"/>
                              <a:lumOff val="15000"/>
                            </a:schemeClr>
                          </a:solidFill>
                          <a:effectLst/>
                        </a:rPr>
                        <a:t>prmières</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133274896"/>
                  </a:ext>
                </a:extLst>
              </a:tr>
              <a:tr h="260903">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Fruits</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150 kg/h × 8 h × 300 j = 360 </a:t>
                      </a:r>
                      <a:r>
                        <a:rPr lang="fr-SN" sz="700" u="none" strike="noStrike" err="1">
                          <a:solidFill>
                            <a:schemeClr val="tx1">
                              <a:lumMod val="85000"/>
                              <a:lumOff val="15000"/>
                            </a:schemeClr>
                          </a:solidFill>
                          <a:effectLst/>
                        </a:rPr>
                        <a:t>t</a:t>
                      </a:r>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TimesNewRomanPSMT"/>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487342144"/>
                  </a:ext>
                </a:extLst>
              </a:tr>
              <a:tr h="260903">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Sucre</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90 kg/h × 8 h × 300 j = 216 </a:t>
                      </a:r>
                      <a:r>
                        <a:rPr lang="fr-SN" sz="700" u="none" strike="noStrike" err="1">
                          <a:solidFill>
                            <a:schemeClr val="tx1">
                              <a:lumMod val="85000"/>
                              <a:lumOff val="15000"/>
                            </a:schemeClr>
                          </a:solidFill>
                          <a:effectLst/>
                        </a:rPr>
                        <a:t>t</a:t>
                      </a:r>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TimesNewRomanPSMT"/>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659196208"/>
                  </a:ext>
                </a:extLst>
              </a:tr>
              <a:tr h="260903">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Additifs</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5t </a:t>
                      </a:r>
                      <a:endParaRPr lang="fr-SN" sz="700" b="0" i="0" u="none" strike="noStrike">
                        <a:solidFill>
                          <a:schemeClr val="tx1">
                            <a:lumMod val="85000"/>
                            <a:lumOff val="15000"/>
                          </a:schemeClr>
                        </a:solidFill>
                        <a:effectLst/>
                        <a:latin typeface="TimesNewRomanPSMT"/>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492167348"/>
                  </a:ext>
                </a:extLst>
              </a:tr>
              <a:tr h="260903">
                <a:tc>
                  <a:txBody>
                    <a:bodyPr/>
                    <a:lstStyle/>
                    <a:p>
                      <a:pPr algn="l" fontAlgn="b"/>
                      <a:r>
                        <a:rPr lang="fr-SN" sz="700" u="none" strike="noStrike">
                          <a:solidFill>
                            <a:schemeClr val="tx1">
                              <a:lumMod val="85000"/>
                              <a:lumOff val="15000"/>
                            </a:schemeClr>
                          </a:solidFill>
                          <a:effectLst/>
                        </a:rPr>
                        <a:t>Fluides</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486423890"/>
                  </a:ext>
                </a:extLst>
              </a:tr>
              <a:tr h="260903">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Eau</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10 m3/jour en comprenant l'entretien et le lavage de l'atelier, soit 3 000 m3 au total </a:t>
                      </a:r>
                      <a:endParaRPr lang="fr-SN" sz="700" b="0" i="0" u="none" strike="noStrike">
                        <a:solidFill>
                          <a:schemeClr val="tx1">
                            <a:lumMod val="85000"/>
                            <a:lumOff val="15000"/>
                          </a:schemeClr>
                        </a:solidFill>
                        <a:effectLst/>
                        <a:latin typeface="TimesNewRomanPSMT"/>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017574188"/>
                  </a:ext>
                </a:extLst>
              </a:tr>
              <a:tr h="260903">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Electricité</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2,5 kWh × 8 h × 300 j = 6 000 kWh </a:t>
                      </a:r>
                      <a:endParaRPr lang="fr-SN" sz="700" b="0" i="0" u="none" strike="noStrike">
                        <a:solidFill>
                          <a:schemeClr val="tx1">
                            <a:lumMod val="85000"/>
                            <a:lumOff val="15000"/>
                          </a:schemeClr>
                        </a:solidFill>
                        <a:effectLst/>
                        <a:latin typeface="TimesNewRomanPSMT"/>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58956870"/>
                  </a:ext>
                </a:extLst>
              </a:tr>
              <a:tr h="375584">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Fuel</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Les besoins de l'</a:t>
                      </a:r>
                      <a:r>
                        <a:rPr lang="fr-SN" sz="700" u="none" strike="noStrike" err="1">
                          <a:solidFill>
                            <a:schemeClr val="tx1">
                              <a:lumMod val="85000"/>
                              <a:lumOff val="15000"/>
                            </a:schemeClr>
                          </a:solidFill>
                          <a:effectLst/>
                        </a:rPr>
                        <a:t>unitont</a:t>
                      </a:r>
                      <a:r>
                        <a:rPr lang="fr-SN" sz="700" u="none" strike="noStrike">
                          <a:solidFill>
                            <a:schemeClr val="tx1">
                              <a:lumMod val="85000"/>
                              <a:lumOff val="15000"/>
                            </a:schemeClr>
                          </a:solidFill>
                          <a:effectLst/>
                        </a:rPr>
                        <a:t> de 150 kg de vapeur/h, soit 360 </a:t>
                      </a:r>
                      <a:r>
                        <a:rPr lang="fr-SN" sz="700" u="none" strike="noStrike" err="1">
                          <a:solidFill>
                            <a:schemeClr val="tx1">
                              <a:lumMod val="85000"/>
                              <a:lumOff val="15000"/>
                            </a:schemeClr>
                          </a:solidFill>
                          <a:effectLst/>
                        </a:rPr>
                        <a:t>t</a:t>
                      </a:r>
                      <a:r>
                        <a:rPr lang="fr-SN" sz="700" u="none" strike="noStrike">
                          <a:solidFill>
                            <a:schemeClr val="tx1">
                              <a:lumMod val="85000"/>
                              <a:lumOff val="15000"/>
                            </a:schemeClr>
                          </a:solidFill>
                          <a:effectLst/>
                        </a:rPr>
                        <a:t> de vapeur/an (1 </a:t>
                      </a:r>
                      <a:r>
                        <a:rPr lang="fr-SN" sz="700" u="none" strike="noStrike" err="1">
                          <a:solidFill>
                            <a:schemeClr val="tx1">
                              <a:lumMod val="85000"/>
                              <a:lumOff val="15000"/>
                            </a:schemeClr>
                          </a:solidFill>
                          <a:effectLst/>
                        </a:rPr>
                        <a:t>t</a:t>
                      </a:r>
                      <a:r>
                        <a:rPr lang="fr-SN" sz="700" u="none" strike="noStrike">
                          <a:solidFill>
                            <a:schemeClr val="tx1">
                              <a:lumMod val="85000"/>
                              <a:lumOff val="15000"/>
                            </a:schemeClr>
                          </a:solidFill>
                          <a:effectLst/>
                        </a:rPr>
                        <a:t> de fuel peut produire 10 </a:t>
                      </a:r>
                      <a:r>
                        <a:rPr lang="fr-SN" sz="700" u="none" strike="noStrike" err="1">
                          <a:solidFill>
                            <a:schemeClr val="tx1">
                              <a:lumMod val="85000"/>
                              <a:lumOff val="15000"/>
                            </a:schemeClr>
                          </a:solidFill>
                          <a:effectLst/>
                        </a:rPr>
                        <a:t>t</a:t>
                      </a:r>
                      <a:r>
                        <a:rPr lang="fr-SN" sz="700" u="none" strike="noStrike">
                          <a:solidFill>
                            <a:schemeClr val="tx1">
                              <a:lumMod val="85000"/>
                              <a:lumOff val="15000"/>
                            </a:schemeClr>
                          </a:solidFill>
                          <a:effectLst/>
                        </a:rPr>
                        <a:t> de vapeur), soit encore 36 </a:t>
                      </a:r>
                      <a:r>
                        <a:rPr lang="fr-SN" sz="700" u="none" strike="noStrike" err="1">
                          <a:solidFill>
                            <a:schemeClr val="tx1">
                              <a:lumMod val="85000"/>
                              <a:lumOff val="15000"/>
                            </a:schemeClr>
                          </a:solidFill>
                          <a:effectLst/>
                        </a:rPr>
                        <a:t>t</a:t>
                      </a:r>
                      <a:r>
                        <a:rPr lang="fr-SN" sz="700" u="none" strike="noStrike">
                          <a:solidFill>
                            <a:schemeClr val="tx1">
                              <a:lumMod val="85000"/>
                              <a:lumOff val="15000"/>
                            </a:schemeClr>
                          </a:solidFill>
                          <a:effectLst/>
                        </a:rPr>
                        <a:t> de fuel </a:t>
                      </a:r>
                      <a:endParaRPr lang="fr-SN" sz="700" b="0" i="0" u="none" strike="noStrike">
                        <a:solidFill>
                          <a:schemeClr val="tx1">
                            <a:lumMod val="85000"/>
                            <a:lumOff val="15000"/>
                          </a:schemeClr>
                        </a:solidFill>
                        <a:effectLst/>
                        <a:latin typeface="TimesNewRomanPSMT"/>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381757555"/>
                  </a:ext>
                </a:extLst>
              </a:tr>
              <a:tr h="260903">
                <a:tc>
                  <a:txBody>
                    <a:bodyPr/>
                    <a:lstStyle/>
                    <a:p>
                      <a:pPr algn="l" fontAlgn="b"/>
                      <a:r>
                        <a:rPr lang="fr-SN" sz="700" u="none" strike="noStrike">
                          <a:solidFill>
                            <a:schemeClr val="tx1">
                              <a:lumMod val="85000"/>
                              <a:lumOff val="15000"/>
                            </a:schemeClr>
                          </a:solidFill>
                          <a:effectLst/>
                        </a:rPr>
                        <a:t>Emballage</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759860288"/>
                  </a:ext>
                </a:extLst>
              </a:tr>
              <a:tr h="260903">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Bocaux</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180 000 </a:t>
                      </a:r>
                      <a:r>
                        <a:rPr lang="fr-SN" sz="700" u="none" strike="noStrike" err="1">
                          <a:solidFill>
                            <a:schemeClr val="tx1">
                              <a:lumMod val="85000"/>
                              <a:lumOff val="15000"/>
                            </a:schemeClr>
                          </a:solidFill>
                          <a:effectLst/>
                        </a:rPr>
                        <a:t>bos</a:t>
                      </a:r>
                      <a:r>
                        <a:rPr lang="fr-SN" sz="700" u="none" strike="noStrike">
                          <a:solidFill>
                            <a:schemeClr val="tx1">
                              <a:lumMod val="85000"/>
                              <a:lumOff val="15000"/>
                            </a:schemeClr>
                          </a:solidFill>
                          <a:effectLst/>
                        </a:rPr>
                        <a:t>/an </a:t>
                      </a:r>
                      <a:endParaRPr lang="fr-SN" sz="700" b="0" i="0" u="none" strike="noStrike">
                        <a:solidFill>
                          <a:schemeClr val="tx1">
                            <a:lumMod val="85000"/>
                            <a:lumOff val="15000"/>
                          </a:schemeClr>
                        </a:solidFill>
                        <a:effectLst/>
                        <a:latin typeface="TimesNewRomanPSMT"/>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935381677"/>
                  </a:ext>
                </a:extLst>
              </a:tr>
              <a:tr h="260903">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Bouteilles</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360 000 bos/an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582746246"/>
                  </a:ext>
                </a:extLst>
              </a:tr>
              <a:tr h="260903">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cartons</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12 000 cartons </a:t>
                      </a:r>
                      <a:endParaRPr lang="fr-SN" sz="700" b="0" i="0" u="none" strike="noStrike">
                        <a:solidFill>
                          <a:schemeClr val="tx1">
                            <a:lumMod val="85000"/>
                            <a:lumOff val="15000"/>
                          </a:schemeClr>
                        </a:solidFill>
                        <a:effectLst/>
                        <a:latin typeface="TimesNewRomanPSMT"/>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dirty="0">
                          <a:solidFill>
                            <a:schemeClr val="tx1">
                              <a:lumMod val="85000"/>
                              <a:lumOff val="15000"/>
                            </a:schemeClr>
                          </a:solidFill>
                          <a:effectLst/>
                        </a:rPr>
                        <a:t> </a:t>
                      </a:r>
                      <a:endParaRPr lang="fr-SN" sz="700" b="0" i="0" u="none" strike="noStrike" dirty="0">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403843542"/>
                  </a:ext>
                </a:extLst>
              </a:tr>
              <a:tr h="260903">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cagettes de </a:t>
                      </a:r>
                      <a:r>
                        <a:rPr lang="fr-SN" sz="700" u="none" strike="noStrike" err="1">
                          <a:solidFill>
                            <a:schemeClr val="tx1">
                              <a:lumMod val="85000"/>
                              <a:lumOff val="15000"/>
                            </a:schemeClr>
                          </a:solidFill>
                          <a:effectLst/>
                        </a:rPr>
                        <a:t>reception</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987234071"/>
                  </a:ext>
                </a:extLst>
              </a:tr>
              <a:tr h="260903">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Palettes</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458305247"/>
                  </a:ext>
                </a:extLst>
              </a:tr>
              <a:tr h="260903">
                <a:tc>
                  <a:txBody>
                    <a:bodyPr/>
                    <a:lstStyle/>
                    <a:p>
                      <a:pPr algn="l" fontAlgn="b"/>
                      <a:r>
                        <a:rPr lang="fr-SN" sz="700" u="none" strike="noStrike">
                          <a:solidFill>
                            <a:schemeClr val="tx1">
                              <a:lumMod val="85000"/>
                              <a:lumOff val="15000"/>
                            </a:schemeClr>
                          </a:solidFill>
                          <a:effectLst/>
                        </a:rPr>
                        <a:t>Personnel</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909264370"/>
                  </a:ext>
                </a:extLst>
              </a:tr>
              <a:tr h="260903">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Manœuvres</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20 </a:t>
                      </a:r>
                      <a:r>
                        <a:rPr lang="fr-SN" sz="700" u="none" strike="noStrike" err="1">
                          <a:solidFill>
                            <a:schemeClr val="tx1">
                              <a:lumMod val="85000"/>
                              <a:lumOff val="15000"/>
                            </a:schemeClr>
                          </a:solidFill>
                          <a:effectLst/>
                        </a:rPr>
                        <a:t>manoeuvres</a:t>
                      </a:r>
                      <a:r>
                        <a:rPr lang="fr-SN" sz="700" u="none" strike="noStrike">
                          <a:solidFill>
                            <a:schemeClr val="tx1">
                              <a:lumMod val="85000"/>
                              <a:lumOff val="15000"/>
                            </a:schemeClr>
                          </a:solidFill>
                          <a:effectLst/>
                        </a:rPr>
                        <a:t> permanents </a:t>
                      </a:r>
                      <a:endParaRPr lang="fr-SN" sz="700" b="0" i="0" u="none" strike="noStrike">
                        <a:solidFill>
                          <a:schemeClr val="tx1">
                            <a:lumMod val="85000"/>
                            <a:lumOff val="15000"/>
                          </a:schemeClr>
                        </a:solidFill>
                        <a:effectLst/>
                        <a:latin typeface="TimesNewRomanPSMT"/>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364980625"/>
                  </a:ext>
                </a:extLst>
              </a:tr>
              <a:tr h="260903">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ouvriers qualifiés</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7 ouvriers permanents </a:t>
                      </a:r>
                      <a:endParaRPr lang="fr-SN" sz="700" b="0" i="0" u="none" strike="noStrike">
                        <a:solidFill>
                          <a:schemeClr val="tx1">
                            <a:lumMod val="85000"/>
                            <a:lumOff val="15000"/>
                          </a:schemeClr>
                        </a:solidFill>
                        <a:effectLst/>
                        <a:latin typeface="TimesNewRomanPSMT"/>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210597344"/>
                  </a:ext>
                </a:extLst>
              </a:tr>
              <a:tr h="260903">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err="1">
                          <a:solidFill>
                            <a:schemeClr val="tx1">
                              <a:lumMod val="85000"/>
                              <a:lumOff val="15000"/>
                            </a:schemeClr>
                          </a:solidFill>
                          <a:effectLst/>
                        </a:rPr>
                        <a:t>Contenaires</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1</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112412671"/>
                  </a:ext>
                </a:extLst>
              </a:tr>
              <a:tr h="260903">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Responsable d'unité</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1</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317213566"/>
                  </a:ext>
                </a:extLst>
              </a:tr>
              <a:tr h="260903">
                <a:tc>
                  <a:txBody>
                    <a:bodyPr/>
                    <a:lstStyle/>
                    <a:p>
                      <a:pPr algn="l" fontAlgn="b"/>
                      <a:r>
                        <a:rPr lang="fr-SN" sz="700" u="none" strike="noStrike">
                          <a:solidFill>
                            <a:schemeClr val="tx1">
                              <a:lumMod val="85000"/>
                              <a:lumOff val="15000"/>
                            </a:schemeClr>
                          </a:solidFill>
                          <a:effectLst/>
                        </a:rPr>
                        <a:t> </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12700" cmpd="sng">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Adjoint</a:t>
                      </a:r>
                      <a:endParaRPr lang="fr-SN" sz="700" b="0" i="0" u="none" strike="noStrike">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pPr algn="l" fontAlgn="b"/>
                      <a:r>
                        <a:rPr lang="fr-SN" sz="700" u="none" strike="noStrike">
                          <a:solidFill>
                            <a:schemeClr val="tx1">
                              <a:lumMod val="85000"/>
                              <a:lumOff val="15000"/>
                            </a:schemeClr>
                          </a:solidFill>
                          <a:effectLst/>
                        </a:rPr>
                        <a:t>Administration, </a:t>
                      </a:r>
                      <a:r>
                        <a:rPr lang="fr-SN" sz="700" u="none" strike="noStrike" err="1">
                          <a:solidFill>
                            <a:schemeClr val="tx1">
                              <a:lumMod val="85000"/>
                              <a:lumOff val="15000"/>
                            </a:schemeClr>
                          </a:solidFill>
                          <a:effectLst/>
                        </a:rPr>
                        <a:t>comptabilit</a:t>
                      </a:r>
                      <a:r>
                        <a:rPr lang="fr-SN" sz="700" u="none" strike="noStrike">
                          <a:solidFill>
                            <a:schemeClr val="tx1">
                              <a:lumMod val="85000"/>
                              <a:lumOff val="15000"/>
                            </a:schemeClr>
                          </a:solidFill>
                          <a:effectLst/>
                        </a:rPr>
                        <a:t>/TD&gt; </a:t>
                      </a:r>
                      <a:endParaRPr lang="fr-SN" sz="700" b="0" i="0" u="none" strike="noStrike">
                        <a:solidFill>
                          <a:schemeClr val="tx1">
                            <a:lumMod val="85000"/>
                            <a:lumOff val="15000"/>
                          </a:schemeClr>
                        </a:solidFill>
                        <a:effectLst/>
                        <a:latin typeface="TimesNewRomanPSMT"/>
                      </a:endParaRPr>
                    </a:p>
                  </a:txBody>
                  <a:tcPr marL="95400" marR="57240" marT="57240" marB="57240" anchor="b">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pPr algn="l" fontAlgn="b"/>
                      <a:r>
                        <a:rPr lang="fr-SN" sz="700" u="none" strike="noStrike" dirty="0">
                          <a:solidFill>
                            <a:schemeClr val="tx1">
                              <a:lumMod val="85000"/>
                              <a:lumOff val="15000"/>
                            </a:schemeClr>
                          </a:solidFill>
                          <a:effectLst/>
                        </a:rPr>
                        <a:t> </a:t>
                      </a:r>
                      <a:endParaRPr lang="fr-SN" sz="700" b="0" i="0" u="none" strike="noStrike" dirty="0">
                        <a:solidFill>
                          <a:schemeClr val="tx1">
                            <a:lumMod val="85000"/>
                            <a:lumOff val="15000"/>
                          </a:schemeClr>
                        </a:solidFill>
                        <a:effectLst/>
                        <a:latin typeface="Calibri" panose="020F0502020204030204" pitchFamily="34" charset="0"/>
                      </a:endParaRPr>
                    </a:p>
                  </a:txBody>
                  <a:tcPr marL="95400" marR="57240" marT="57240" marB="57240" anchor="b">
                    <a:lnL w="38100" cap="flat" cmpd="sng" algn="ctr">
                      <a:solidFill>
                        <a:srgbClr val="FFFFFF"/>
                      </a:solidFill>
                      <a:prstDash val="solid"/>
                    </a:lnL>
                    <a:lnR w="12700" cmpd="sng">
                      <a:noFill/>
                      <a:prstDash val="solid"/>
                    </a:lnR>
                    <a:lnT w="38100" cap="flat" cmpd="sng" algn="ctr">
                      <a:solidFill>
                        <a:srgbClr val="FFFFFF"/>
                      </a:solidFill>
                      <a:prstDash val="solid"/>
                    </a:lnT>
                    <a:lnB w="12700" cmpd="sng">
                      <a:noFill/>
                      <a:prstDash val="solid"/>
                    </a:lnB>
                    <a:solidFill>
                      <a:srgbClr val="878E8B">
                        <a:alpha val="30196"/>
                      </a:srgbClr>
                    </a:solidFill>
                  </a:tcPr>
                </a:tc>
                <a:extLst>
                  <a:ext uri="{0D108BD9-81ED-4DB2-BD59-A6C34878D82A}">
                    <a16:rowId xmlns:a16="http://schemas.microsoft.com/office/drawing/2014/main" val="2556349072"/>
                  </a:ext>
                </a:extLst>
              </a:tr>
            </a:tbl>
          </a:graphicData>
        </a:graphic>
      </p:graphicFrame>
      <p:pic>
        <p:nvPicPr>
          <p:cNvPr id="4" name="Image 3" descr="page15image57653888">
            <a:extLst>
              <a:ext uri="{FF2B5EF4-FFF2-40B4-BE49-F238E27FC236}">
                <a16:creationId xmlns:a16="http://schemas.microsoft.com/office/drawing/2014/main" id="{B9F51154-466C-858F-7122-AB951CFAD6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75978" y="2906643"/>
            <a:ext cx="889000" cy="0"/>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descr="page15image57651584">
            <a:extLst>
              <a:ext uri="{FF2B5EF4-FFF2-40B4-BE49-F238E27FC236}">
                <a16:creationId xmlns:a16="http://schemas.microsoft.com/office/drawing/2014/main" id="{9EAACD9B-247C-25ED-5D7F-CBD51DC66B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74878" y="3109843"/>
            <a:ext cx="12700" cy="81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108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48000"/>
                <a:satMod val="110000"/>
                <a:lumMod val="40000"/>
              </a:schemeClr>
              <a:schemeClr val="bg2">
                <a:tint val="90000"/>
                <a:lumMod val="106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75FA5B-A9B0-4117-8BBC-86F4E90B3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Impact" panose="020B0806030902050204"/>
              <a:ea typeface="+mn-ea"/>
              <a:cs typeface="+mn-cs"/>
            </a:endParaRPr>
          </a:p>
        </p:txBody>
      </p:sp>
      <p:sp>
        <p:nvSpPr>
          <p:cNvPr id="10" name="Rectangle 9">
            <a:extLst>
              <a:ext uri="{FF2B5EF4-FFF2-40B4-BE49-F238E27FC236}">
                <a16:creationId xmlns:a16="http://schemas.microsoft.com/office/drawing/2014/main" id="{9F199295-6F4E-448A-B175-B5D6C7B981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561320" cy="6858000"/>
          </a:xfrm>
          <a:prstGeom prst="rect">
            <a:avLst/>
          </a:prstGeom>
          <a:solidFill>
            <a:srgbClr val="FFFFFF"/>
          </a:solidFill>
          <a:ln w="57150" cmpd="thinThick">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Impact" panose="020B0806030902050204"/>
              <a:ea typeface="+mn-ea"/>
              <a:cs typeface="+mn-cs"/>
            </a:endParaRPr>
          </a:p>
        </p:txBody>
      </p:sp>
      <p:sp>
        <p:nvSpPr>
          <p:cNvPr id="12" name="Rectangle 11">
            <a:extLst>
              <a:ext uri="{FF2B5EF4-FFF2-40B4-BE49-F238E27FC236}">
                <a16:creationId xmlns:a16="http://schemas.microsoft.com/office/drawing/2014/main" id="{4961A02C-7762-47FC-A04A-C42AA6E562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1320" y="0"/>
            <a:ext cx="421871" cy="6858000"/>
          </a:xfrm>
          <a:prstGeom prst="rect">
            <a:avLst/>
          </a:prstGeom>
          <a:gradFill>
            <a:gsLst>
              <a:gs pos="73000">
                <a:srgbClr val="3A3A3A">
                  <a:lumMod val="100000"/>
                  <a:alpha val="10000"/>
                </a:srgbClr>
              </a:gs>
              <a:gs pos="0">
                <a:schemeClr val="bg1">
                  <a:lumMod val="85000"/>
                  <a:lumOff val="15000"/>
                </a:schemeClr>
              </a:gs>
              <a:gs pos="100000">
                <a:schemeClr val="bg1">
                  <a:lumMod val="75000"/>
                  <a:lumOff val="25000"/>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au 2">
            <a:extLst>
              <a:ext uri="{FF2B5EF4-FFF2-40B4-BE49-F238E27FC236}">
                <a16:creationId xmlns:a16="http://schemas.microsoft.com/office/drawing/2014/main" id="{DAD03E4F-3C9F-8F61-CDE1-E61C687AC2F5}"/>
              </a:ext>
            </a:extLst>
          </p:cNvPr>
          <p:cNvGraphicFramePr>
            <a:graphicFrameLocks noGrp="1"/>
          </p:cNvGraphicFramePr>
          <p:nvPr>
            <p:extLst>
              <p:ext uri="{D42A27DB-BD31-4B8C-83A1-F6EECF244321}">
                <p14:modId xmlns:p14="http://schemas.microsoft.com/office/powerpoint/2010/main" val="3514672563"/>
              </p:ext>
            </p:extLst>
          </p:nvPr>
        </p:nvGraphicFramePr>
        <p:xfrm>
          <a:off x="1036284" y="944844"/>
          <a:ext cx="8514715" cy="4968320"/>
        </p:xfrm>
        <a:graphic>
          <a:graphicData uri="http://schemas.openxmlformats.org/drawingml/2006/table">
            <a:tbl>
              <a:tblPr firstRow="1" bandRow="1">
                <a:tableStyleId>{8EC20E35-A176-4012-BC5E-935CFFF8708E}</a:tableStyleId>
              </a:tblPr>
              <a:tblGrid>
                <a:gridCol w="1468204">
                  <a:extLst>
                    <a:ext uri="{9D8B030D-6E8A-4147-A177-3AD203B41FA5}">
                      <a16:colId xmlns:a16="http://schemas.microsoft.com/office/drawing/2014/main" val="58748601"/>
                    </a:ext>
                  </a:extLst>
                </a:gridCol>
                <a:gridCol w="1386966">
                  <a:extLst>
                    <a:ext uri="{9D8B030D-6E8A-4147-A177-3AD203B41FA5}">
                      <a16:colId xmlns:a16="http://schemas.microsoft.com/office/drawing/2014/main" val="3684403220"/>
                    </a:ext>
                  </a:extLst>
                </a:gridCol>
                <a:gridCol w="601661">
                  <a:extLst>
                    <a:ext uri="{9D8B030D-6E8A-4147-A177-3AD203B41FA5}">
                      <a16:colId xmlns:a16="http://schemas.microsoft.com/office/drawing/2014/main" val="1649353462"/>
                    </a:ext>
                  </a:extLst>
                </a:gridCol>
                <a:gridCol w="621970">
                  <a:extLst>
                    <a:ext uri="{9D8B030D-6E8A-4147-A177-3AD203B41FA5}">
                      <a16:colId xmlns:a16="http://schemas.microsoft.com/office/drawing/2014/main" val="3540560412"/>
                    </a:ext>
                  </a:extLst>
                </a:gridCol>
                <a:gridCol w="1601910">
                  <a:extLst>
                    <a:ext uri="{9D8B030D-6E8A-4147-A177-3AD203B41FA5}">
                      <a16:colId xmlns:a16="http://schemas.microsoft.com/office/drawing/2014/main" val="4076475892"/>
                    </a:ext>
                  </a:extLst>
                </a:gridCol>
                <a:gridCol w="359638">
                  <a:extLst>
                    <a:ext uri="{9D8B030D-6E8A-4147-A177-3AD203B41FA5}">
                      <a16:colId xmlns:a16="http://schemas.microsoft.com/office/drawing/2014/main" val="2858998162"/>
                    </a:ext>
                  </a:extLst>
                </a:gridCol>
                <a:gridCol w="1197410">
                  <a:extLst>
                    <a:ext uri="{9D8B030D-6E8A-4147-A177-3AD203B41FA5}">
                      <a16:colId xmlns:a16="http://schemas.microsoft.com/office/drawing/2014/main" val="638581673"/>
                    </a:ext>
                  </a:extLst>
                </a:gridCol>
                <a:gridCol w="1276956">
                  <a:extLst>
                    <a:ext uri="{9D8B030D-6E8A-4147-A177-3AD203B41FA5}">
                      <a16:colId xmlns:a16="http://schemas.microsoft.com/office/drawing/2014/main" val="2966302486"/>
                    </a:ext>
                  </a:extLst>
                </a:gridCol>
              </a:tblGrid>
              <a:tr h="372659">
                <a:tc>
                  <a:txBody>
                    <a:bodyPr/>
                    <a:lstStyle/>
                    <a:p>
                      <a:pPr algn="l" fontAlgn="b"/>
                      <a:r>
                        <a:rPr lang="fr-SN" sz="1100" u="none" strike="noStrike">
                          <a:effectLst/>
                        </a:rPr>
                        <a:t>Option</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Matériels</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Nombre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capacité</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temps pour traiter Xkgde fruits</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Eau</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Nbre de personne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Matières premières</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3070372237"/>
                  </a:ext>
                </a:extLst>
              </a:tr>
              <a:tr h="210182">
                <a:tc>
                  <a:txBody>
                    <a:bodyPr/>
                    <a:lstStyle/>
                    <a:p>
                      <a:pPr algn="l" fontAlgn="b"/>
                      <a:r>
                        <a:rPr lang="fr-SN" sz="1100" u="none" strike="noStrike">
                          <a:effectLst/>
                        </a:rPr>
                        <a:t>Pesage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Balance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lvl="1" algn="r" fontAlgn="b"/>
                      <a:r>
                        <a:rPr lang="fr-SN" sz="1100" u="none" strike="noStrike">
                          <a:effectLst/>
                        </a:rPr>
                        <a:t>1</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a:effectLst/>
                        </a:rPr>
                        <a:t> 100-130kg</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3005378046"/>
                  </a:ext>
                </a:extLst>
              </a:tr>
              <a:tr h="210182">
                <a:tc>
                  <a:txBody>
                    <a:bodyPr/>
                    <a:lstStyle/>
                    <a:p>
                      <a:pPr algn="l" fontAlgn="b"/>
                      <a:r>
                        <a:rPr lang="fr-SN" sz="1100" u="none" strike="noStrike">
                          <a:effectLst/>
                        </a:rPr>
                        <a:t>Stockage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Cagette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3626062860"/>
                  </a:ext>
                </a:extLst>
              </a:tr>
              <a:tr h="210182">
                <a:tc>
                  <a:txBody>
                    <a:bodyPr/>
                    <a:lstStyle/>
                    <a:p>
                      <a:pPr algn="l" fontAlgn="b"/>
                      <a:r>
                        <a:rPr lang="fr-SN" sz="1100" u="none" strike="noStrike">
                          <a:effectLst/>
                        </a:rPr>
                        <a:t>Lavage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Bacs</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r" fontAlgn="b"/>
                      <a:r>
                        <a:rPr lang="fr-SN" sz="1100" u="none" strike="noStrike">
                          <a:effectLst/>
                        </a:rPr>
                        <a:t>2</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3726147226"/>
                  </a:ext>
                </a:extLst>
              </a:tr>
              <a:tr h="210182">
                <a:tc>
                  <a:txBody>
                    <a:bodyPr/>
                    <a:lstStyle/>
                    <a:p>
                      <a:pPr algn="l" fontAlgn="b"/>
                      <a:r>
                        <a:rPr lang="fr-SN" sz="1100" u="none" strike="noStrike">
                          <a:effectLst/>
                        </a:rPr>
                        <a:t>Triage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Table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39701400"/>
                  </a:ext>
                </a:extLst>
              </a:tr>
              <a:tr h="210182">
                <a:tc>
                  <a:txBody>
                    <a:bodyPr/>
                    <a:lstStyle/>
                    <a:p>
                      <a:pPr algn="l" fontAlgn="b"/>
                      <a:r>
                        <a:rPr lang="fr-SN" sz="1100" u="none" strike="noStrike">
                          <a:effectLst/>
                        </a:rPr>
                        <a:t>Parage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Couteaux</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2143162222"/>
                  </a:ext>
                </a:extLst>
              </a:tr>
              <a:tr h="210182">
                <a:tc>
                  <a:txBody>
                    <a:bodyPr/>
                    <a:lstStyle/>
                    <a:p>
                      <a:pPr algn="l" fontAlgn="b"/>
                      <a:r>
                        <a:rPr lang="fr-SN" sz="1100" u="none" strike="noStrike">
                          <a:effectLst/>
                        </a:rPr>
                        <a:t>Dyautage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Couteaux</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2366815820"/>
                  </a:ext>
                </a:extLst>
              </a:tr>
              <a:tr h="210182">
                <a:tc>
                  <a:txBody>
                    <a:bodyPr/>
                    <a:lstStyle/>
                    <a:p>
                      <a:pPr algn="l" fontAlgn="b"/>
                      <a:r>
                        <a:rPr lang="fr-SN" sz="1100" u="none" strike="noStrike">
                          <a:effectLst/>
                        </a:rPr>
                        <a:t>Epluchage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Table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2454765601"/>
                  </a:ext>
                </a:extLst>
              </a:tr>
              <a:tr h="210182">
                <a:tc>
                  <a:txBody>
                    <a:bodyPr/>
                    <a:lstStyle/>
                    <a:p>
                      <a:pPr algn="l" fontAlgn="b"/>
                      <a:r>
                        <a:rPr lang="fr-SN" sz="1100" u="none" strike="noStrike">
                          <a:effectLst/>
                        </a:rPr>
                        <a:t>Dupage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4254983115"/>
                  </a:ext>
                </a:extLst>
              </a:tr>
              <a:tr h="210182">
                <a:tc>
                  <a:txBody>
                    <a:bodyPr/>
                    <a:lstStyle/>
                    <a:p>
                      <a:pPr algn="l" fontAlgn="b"/>
                      <a:r>
                        <a:rPr lang="fr-SN" sz="1100" u="none" strike="noStrike">
                          <a:effectLst/>
                        </a:rPr>
                        <a:t>eExtraction de jus</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Presse agrume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3488217253"/>
                  </a:ext>
                </a:extLst>
              </a:tr>
              <a:tr h="210182">
                <a:tc>
                  <a:txBody>
                    <a:bodyPr/>
                    <a:lstStyle/>
                    <a:p>
                      <a:pPr algn="l" fontAlgn="b"/>
                      <a:r>
                        <a:rPr lang="fr-SN" sz="1100" u="none" strike="noStrike">
                          <a:effectLst/>
                        </a:rPr>
                        <a:t>Broyage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Broyeur manuel</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429702201"/>
                  </a:ext>
                </a:extLst>
              </a:tr>
              <a:tr h="210182">
                <a:tc>
                  <a:txBody>
                    <a:bodyPr/>
                    <a:lstStyle/>
                    <a:p>
                      <a:pPr algn="l" fontAlgn="b"/>
                      <a:r>
                        <a:rPr lang="fr-SN" sz="1100" u="none" strike="noStrike">
                          <a:effectLst/>
                        </a:rPr>
                        <a:t>Tamisage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Tamis manuels</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118843938"/>
                  </a:ext>
                </a:extLst>
              </a:tr>
              <a:tr h="372659">
                <a:tc>
                  <a:txBody>
                    <a:bodyPr/>
                    <a:lstStyle/>
                    <a:p>
                      <a:pPr algn="l" fontAlgn="b"/>
                      <a:r>
                        <a:rPr lang="fr-SN" sz="1100" u="none" strike="noStrike">
                          <a:effectLst/>
                        </a:rPr>
                        <a:t>Pesage ingredients</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Balances</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a:effectLst/>
                        </a:rPr>
                        <a:t>Sucre, acide citrique… </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2311966119"/>
                  </a:ext>
                </a:extLst>
              </a:tr>
              <a:tr h="210182">
                <a:tc>
                  <a:txBody>
                    <a:bodyPr/>
                    <a:lstStyle/>
                    <a:p>
                      <a:pPr algn="l" fontAlgn="b"/>
                      <a:r>
                        <a:rPr lang="fr-SN" sz="1100" u="none" strike="noStrike">
                          <a:effectLst/>
                        </a:rPr>
                        <a:t>cuisson/Pasteurisation</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Marmites</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1102415011"/>
                  </a:ext>
                </a:extLst>
              </a:tr>
              <a:tr h="372659">
                <a:tc>
                  <a:txBody>
                    <a:bodyPr/>
                    <a:lstStyle/>
                    <a:p>
                      <a:pPr algn="l" fontAlgn="b"/>
                      <a:r>
                        <a:rPr lang="fr-SN" sz="1100" u="none" strike="noStrike">
                          <a:effectLst/>
                        </a:rPr>
                        <a:t>Remplissage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doseuse semi-industielle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a:effectLst/>
                        </a:rPr>
                        <a:t>Pots, bocaux, bouteilles </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1935773339"/>
                  </a:ext>
                </a:extLst>
              </a:tr>
              <a:tr h="372659">
                <a:tc>
                  <a:txBody>
                    <a:bodyPr/>
                    <a:lstStyle/>
                    <a:p>
                      <a:pPr algn="l" fontAlgn="b"/>
                      <a:r>
                        <a:rPr lang="fr-SN" sz="1100" u="none" strike="noStrike">
                          <a:effectLst/>
                        </a:rPr>
                        <a:t>Fermeture(sertisage)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sertisseuse manuelle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a:effectLst/>
                        </a:rPr>
                        <a:t>Capsules ou couvercle </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3197616814"/>
                  </a:ext>
                </a:extLst>
              </a:tr>
              <a:tr h="210182">
                <a:tc>
                  <a:txBody>
                    <a:bodyPr/>
                    <a:lstStyle/>
                    <a:p>
                      <a:pPr algn="l" fontAlgn="b"/>
                      <a:r>
                        <a:rPr lang="fr-SN" sz="1100" u="none" strike="noStrike">
                          <a:effectLst/>
                        </a:rPr>
                        <a:t>Refroidissement</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3399373726"/>
                  </a:ext>
                </a:extLst>
              </a:tr>
              <a:tr h="372659">
                <a:tc>
                  <a:txBody>
                    <a:bodyPr/>
                    <a:lstStyle/>
                    <a:p>
                      <a:pPr algn="l" fontAlgn="b"/>
                      <a:r>
                        <a:rPr lang="fr-SN" sz="1100" u="none" strike="noStrike">
                          <a:effectLst/>
                        </a:rPr>
                        <a:t>Etiquetage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Table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a:effectLst/>
                        </a:rPr>
                        <a:t>Etiquette, ciseaux, colle </a:t>
                      </a:r>
                      <a:endParaRPr lang="fr-SN" sz="1100" b="0" i="0" u="none" strike="noStrike">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612801089"/>
                  </a:ext>
                </a:extLst>
              </a:tr>
              <a:tr h="372659">
                <a:tc>
                  <a:txBody>
                    <a:bodyPr/>
                    <a:lstStyle/>
                    <a:p>
                      <a:pPr algn="l" fontAlgn="b"/>
                      <a:r>
                        <a:rPr lang="fr-SN" sz="1100" u="none" strike="noStrike">
                          <a:effectLst/>
                        </a:rPr>
                        <a:t>Encartonnage</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l" fontAlgn="b"/>
                      <a:r>
                        <a:rPr lang="fr-SN" sz="1100" u="none" strike="noStrike">
                          <a:effectLst/>
                        </a:rPr>
                        <a:t> </a:t>
                      </a:r>
                      <a:endParaRPr lang="fr-SN" sz="1100" b="0" i="0" u="none" strike="noStrike">
                        <a:solidFill>
                          <a:srgbClr val="000000"/>
                        </a:solidFill>
                        <a:effectLst/>
                        <a:latin typeface="Calibri" panose="020F0502020204030204" pitchFamily="34" charset="0"/>
                      </a:endParaRPr>
                    </a:p>
                  </a:txBody>
                  <a:tcPr marL="8710" marR="8710" marT="8710" marB="0" anchor="b"/>
                </a:tc>
                <a:tc>
                  <a:txBody>
                    <a:bodyPr/>
                    <a:lstStyle/>
                    <a:p>
                      <a:pPr algn="ctr" fontAlgn="b"/>
                      <a:r>
                        <a:rPr lang="fr-SN" sz="1100" u="none" strike="noStrike" dirty="0">
                          <a:effectLst/>
                        </a:rPr>
                        <a:t>Carton et ruban adhésif </a:t>
                      </a:r>
                      <a:endParaRPr lang="fr-SN" sz="1100" b="0" i="0" u="none" strike="noStrike" dirty="0">
                        <a:solidFill>
                          <a:srgbClr val="000000"/>
                        </a:solidFill>
                        <a:effectLst/>
                        <a:latin typeface="Calibri" panose="020F0502020204030204" pitchFamily="34" charset="0"/>
                      </a:endParaRPr>
                    </a:p>
                  </a:txBody>
                  <a:tcPr marL="8710" marR="8710" marT="8710" marB="0" anchor="b"/>
                </a:tc>
                <a:extLst>
                  <a:ext uri="{0D108BD9-81ED-4DB2-BD59-A6C34878D82A}">
                    <a16:rowId xmlns:a16="http://schemas.microsoft.com/office/drawing/2014/main" val="3249328539"/>
                  </a:ext>
                </a:extLst>
              </a:tr>
            </a:tbl>
          </a:graphicData>
        </a:graphic>
      </p:graphicFrame>
    </p:spTree>
    <p:extLst>
      <p:ext uri="{BB962C8B-B14F-4D97-AF65-F5344CB8AC3E}">
        <p14:creationId xmlns:p14="http://schemas.microsoft.com/office/powerpoint/2010/main" val="2921786849"/>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4107" name="Picture 4106">
            <a:extLst>
              <a:ext uri="{FF2B5EF4-FFF2-40B4-BE49-F238E27FC236}">
                <a16:creationId xmlns:a16="http://schemas.microsoft.com/office/drawing/2014/main" id="{E6D57E0B-41E7-4862-852B-4C24E7B478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4109" name="Group 4108">
            <a:extLst>
              <a:ext uri="{FF2B5EF4-FFF2-40B4-BE49-F238E27FC236}">
                <a16:creationId xmlns:a16="http://schemas.microsoft.com/office/drawing/2014/main" id="{14684A4D-3AB3-4D14-8F74-E9E22EFC92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397" y="0"/>
            <a:ext cx="12005350" cy="6644081"/>
            <a:chOff x="-25397" y="0"/>
            <a:chExt cx="12005350" cy="6644081"/>
          </a:xfrm>
        </p:grpSpPr>
        <p:sp useBgFill="1">
          <p:nvSpPr>
            <p:cNvPr id="4110" name="Rectangle 4109">
              <a:extLst>
                <a:ext uri="{FF2B5EF4-FFF2-40B4-BE49-F238E27FC236}">
                  <a16:creationId xmlns:a16="http://schemas.microsoft.com/office/drawing/2014/main" id="{62AAD8D6-E6DC-4196-8B6E-99E7C9027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4111" name="Freeform 11">
              <a:extLst>
                <a:ext uri="{FF2B5EF4-FFF2-40B4-BE49-F238E27FC236}">
                  <a16:creationId xmlns:a16="http://schemas.microsoft.com/office/drawing/2014/main" id="{EF22364E-4978-4D02-9F7E-4608CE9F4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fr-FR"/>
            </a:p>
          </p:txBody>
        </p:sp>
        <p:sp>
          <p:nvSpPr>
            <p:cNvPr id="4112" name="Rectangle 4111">
              <a:extLst>
                <a:ext uri="{FF2B5EF4-FFF2-40B4-BE49-F238E27FC236}">
                  <a16:creationId xmlns:a16="http://schemas.microsoft.com/office/drawing/2014/main" id="{D203295E-B861-404F-966C-8EDD882877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fr-FR"/>
            </a:p>
          </p:txBody>
        </p:sp>
      </p:grpSp>
      <p:pic>
        <p:nvPicPr>
          <p:cNvPr id="4114" name="Picture 4113">
            <a:extLst>
              <a:ext uri="{FF2B5EF4-FFF2-40B4-BE49-F238E27FC236}">
                <a16:creationId xmlns:a16="http://schemas.microsoft.com/office/drawing/2014/main" id="{BB28D430-56EA-45B9-8632-927BEBF029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4116" name="Freeform: Shape 4115">
            <a:extLst>
              <a:ext uri="{FF2B5EF4-FFF2-40B4-BE49-F238E27FC236}">
                <a16:creationId xmlns:a16="http://schemas.microsoft.com/office/drawing/2014/main" id="{A601F395-3079-4179-84BA-6654D9F825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7"/>
            <a:ext cx="10905067" cy="5571066"/>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ln w="50800" cap="sq">
            <a:noFill/>
            <a:miter lim="800000"/>
          </a:ln>
          <a:effectLst>
            <a:outerShdw blurRad="101600" dist="152400" dir="4380000" algn="t" rotWithShape="0">
              <a:prstClr val="black">
                <a:alpha val="43000"/>
              </a:prstClr>
            </a:outerShdw>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ZoneTexte 1">
            <a:extLst>
              <a:ext uri="{FF2B5EF4-FFF2-40B4-BE49-F238E27FC236}">
                <a16:creationId xmlns:a16="http://schemas.microsoft.com/office/drawing/2014/main" id="{802ADC4D-A7BE-67EA-2CDF-65A874249928}"/>
              </a:ext>
            </a:extLst>
          </p:cNvPr>
          <p:cNvSpPr txBox="1"/>
          <p:nvPr/>
        </p:nvSpPr>
        <p:spPr>
          <a:xfrm>
            <a:off x="914400" y="1147039"/>
            <a:ext cx="9618133" cy="3586290"/>
          </a:xfrm>
          <a:prstGeom prst="rect">
            <a:avLst/>
          </a:prstGeom>
        </p:spPr>
        <p:txBody>
          <a:bodyPr vert="horz" lIns="91440" tIns="45720" rIns="91440" bIns="45720" rtlCol="0" anchor="ctr">
            <a:normAutofit fontScale="85000" lnSpcReduction="10000"/>
          </a:bodyPr>
          <a:lstStyle/>
          <a:p>
            <a:pPr indent="-228600" defTabSz="914400">
              <a:lnSpc>
                <a:spcPct val="110000"/>
              </a:lnSpc>
              <a:spcAft>
                <a:spcPts val="600"/>
              </a:spcAft>
              <a:buClr>
                <a:schemeClr val="accent1"/>
              </a:buClr>
              <a:buSzPct val="160000"/>
              <a:buFont typeface="Arial" panose="020B0604020202020204" pitchFamily="34" charset="0"/>
              <a:buChar char="•"/>
            </a:pPr>
            <a:r>
              <a:rPr lang="en-US" sz="1400" cap="all" dirty="0">
                <a:solidFill>
                  <a:schemeClr val="tx1">
                    <a:lumMod val="85000"/>
                    <a:lumOff val="15000"/>
                  </a:schemeClr>
                </a:solidFill>
              </a:rPr>
              <a:t>Construction </a:t>
            </a:r>
          </a:p>
          <a:p>
            <a:pPr indent="-228600" defTabSz="914400">
              <a:lnSpc>
                <a:spcPct val="110000"/>
              </a:lnSpc>
              <a:spcAft>
                <a:spcPts val="600"/>
              </a:spcAft>
              <a:buClr>
                <a:schemeClr val="accent1"/>
              </a:buClr>
              <a:buSzPct val="160000"/>
              <a:buFont typeface="Arial" panose="020B0604020202020204" pitchFamily="34" charset="0"/>
              <a:buChar char="•"/>
            </a:pPr>
            <a:endParaRPr kumimoji="0" lang="en-US" altLang="fr-FR" sz="1400" b="0" i="0" u="none" strike="noStrike" cap="all" normalizeH="0" dirty="0">
              <a:ln>
                <a:noFill/>
              </a:ln>
              <a:solidFill>
                <a:schemeClr val="tx1">
                  <a:lumMod val="85000"/>
                  <a:lumOff val="15000"/>
                </a:schemeClr>
              </a:solidFill>
            </a:endParaRPr>
          </a:p>
          <a:p>
            <a:pPr indent="-228600" defTabSz="914400">
              <a:lnSpc>
                <a:spcPct val="110000"/>
              </a:lnSpc>
              <a:spcAft>
                <a:spcPts val="600"/>
              </a:spcAft>
              <a:buClr>
                <a:schemeClr val="accent1"/>
              </a:buClr>
              <a:buSzPct val="160000"/>
              <a:buFont typeface="Arial" panose="020B0604020202020204" pitchFamily="34" charset="0"/>
              <a:buChar char="•"/>
            </a:pPr>
            <a:r>
              <a:rPr kumimoji="0" lang="en-US" altLang="fr-FR" sz="1400" b="0" i="0" u="none" strike="noStrike" cap="all" normalizeH="0" dirty="0">
                <a:ln>
                  <a:noFill/>
                </a:ln>
                <a:solidFill>
                  <a:schemeClr val="tx1">
                    <a:lumMod val="85000"/>
                    <a:lumOff val="15000"/>
                  </a:schemeClr>
                </a:solidFill>
              </a:rPr>
              <a:t>Le </a:t>
            </a:r>
            <a:r>
              <a:rPr kumimoji="0" lang="en-US" altLang="fr-FR" sz="1400" b="0" i="0" u="none" strike="noStrike" cap="all" normalizeH="0" dirty="0" err="1">
                <a:ln>
                  <a:noFill/>
                </a:ln>
                <a:solidFill>
                  <a:schemeClr val="tx1">
                    <a:lumMod val="85000"/>
                    <a:lumOff val="15000"/>
                  </a:schemeClr>
                </a:solidFill>
              </a:rPr>
              <a:t>bâtiment</a:t>
            </a:r>
            <a:r>
              <a:rPr kumimoji="0" lang="en-US" altLang="fr-FR" sz="1400" b="0" i="0" u="none" strike="noStrike" cap="all" normalizeH="0" dirty="0">
                <a:ln>
                  <a:noFill/>
                </a:ln>
                <a:solidFill>
                  <a:schemeClr val="tx1">
                    <a:lumMod val="85000"/>
                    <a:lumOff val="15000"/>
                  </a:schemeClr>
                </a:solidFill>
              </a:rPr>
              <a:t> </a:t>
            </a:r>
            <a:r>
              <a:rPr kumimoji="0" lang="en-US" altLang="fr-FR" sz="1400" b="0" i="0" u="none" strike="noStrike" cap="all" normalizeH="0" dirty="0" err="1">
                <a:ln>
                  <a:noFill/>
                </a:ln>
                <a:solidFill>
                  <a:schemeClr val="tx1">
                    <a:lumMod val="85000"/>
                    <a:lumOff val="15000"/>
                  </a:schemeClr>
                </a:solidFill>
              </a:rPr>
              <a:t>occupe</a:t>
            </a:r>
            <a:r>
              <a:rPr kumimoji="0" lang="en-US" altLang="fr-FR" sz="1400" b="0" i="0" u="none" strike="noStrike" cap="all" normalizeH="0" dirty="0">
                <a:ln>
                  <a:noFill/>
                </a:ln>
                <a:solidFill>
                  <a:schemeClr val="tx1">
                    <a:lumMod val="85000"/>
                    <a:lumOff val="15000"/>
                  </a:schemeClr>
                </a:solidFill>
              </a:rPr>
              <a:t> une surface au sol environ 360m2. </a:t>
            </a:r>
          </a:p>
          <a:p>
            <a:pPr indent="-228600" defTabSz="914400">
              <a:lnSpc>
                <a:spcPct val="110000"/>
              </a:lnSpc>
              <a:spcAft>
                <a:spcPts val="600"/>
              </a:spcAft>
              <a:buClr>
                <a:schemeClr val="accent1"/>
              </a:buClr>
              <a:buSzPct val="160000"/>
              <a:buFont typeface="Arial" panose="020B0604020202020204" pitchFamily="34" charset="0"/>
              <a:buChar char="•"/>
            </a:pPr>
            <a:r>
              <a:rPr lang="en-US" sz="1400" cap="all" dirty="0">
                <a:solidFill>
                  <a:schemeClr val="tx1">
                    <a:lumMod val="85000"/>
                    <a:lumOff val="15000"/>
                  </a:schemeClr>
                </a:solidFill>
              </a:rPr>
              <a:t>- Les </a:t>
            </a:r>
            <a:r>
              <a:rPr lang="en-US" sz="1400" cap="all" dirty="0" err="1">
                <a:solidFill>
                  <a:schemeClr val="tx1">
                    <a:lumMod val="85000"/>
                    <a:lumOff val="15000"/>
                  </a:schemeClr>
                </a:solidFill>
              </a:rPr>
              <a:t>locaux</a:t>
            </a:r>
            <a:r>
              <a:rPr lang="en-US" sz="1400" cap="all" dirty="0">
                <a:solidFill>
                  <a:schemeClr val="tx1">
                    <a:lumMod val="85000"/>
                    <a:lumOff val="15000"/>
                  </a:schemeClr>
                </a:solidFill>
              </a:rPr>
              <a:t> doivent </a:t>
            </a:r>
            <a:r>
              <a:rPr lang="en-US" sz="1400" cap="all" dirty="0" err="1">
                <a:solidFill>
                  <a:schemeClr val="tx1">
                    <a:lumMod val="85000"/>
                    <a:lumOff val="15000"/>
                  </a:schemeClr>
                </a:solidFill>
              </a:rPr>
              <a:t>comporter</a:t>
            </a:r>
            <a:r>
              <a:rPr lang="en-US" sz="1400" cap="all" dirty="0">
                <a:solidFill>
                  <a:schemeClr val="tx1">
                    <a:lumMod val="85000"/>
                    <a:lumOff val="15000"/>
                  </a:schemeClr>
                </a:solidFill>
              </a:rPr>
              <a:t> minimum Deux </a:t>
            </a:r>
            <a:r>
              <a:rPr lang="en-US" sz="1400" cap="all" dirty="0" err="1">
                <a:solidFill>
                  <a:schemeClr val="tx1">
                    <a:lumMod val="85000"/>
                    <a:lumOff val="15000"/>
                  </a:schemeClr>
                </a:solidFill>
              </a:rPr>
              <a:t>portes</a:t>
            </a:r>
            <a:endParaRPr lang="en-US" sz="1400" cap="all" dirty="0">
              <a:solidFill>
                <a:schemeClr val="tx1">
                  <a:lumMod val="85000"/>
                  <a:lumOff val="15000"/>
                </a:schemeClr>
              </a:solidFill>
            </a:endParaRPr>
          </a:p>
          <a:p>
            <a:pPr indent="-228600" defTabSz="914400">
              <a:lnSpc>
                <a:spcPct val="110000"/>
              </a:lnSpc>
              <a:spcAft>
                <a:spcPts val="600"/>
              </a:spcAft>
              <a:buClr>
                <a:schemeClr val="accent1"/>
              </a:buClr>
              <a:buSzPct val="160000"/>
              <a:buFont typeface="Arial" panose="020B0604020202020204" pitchFamily="34" charset="0"/>
              <a:buChar char="•"/>
            </a:pPr>
            <a:r>
              <a:rPr lang="en-US" sz="1400" cap="all" dirty="0">
                <a:solidFill>
                  <a:schemeClr val="tx1">
                    <a:lumMod val="85000"/>
                    <a:lumOff val="15000"/>
                  </a:schemeClr>
                </a:solidFill>
              </a:rPr>
              <a:t>- Il doit respecter le </a:t>
            </a:r>
            <a:r>
              <a:rPr lang="en-US" sz="1400" cap="all" dirty="0" err="1">
                <a:solidFill>
                  <a:schemeClr val="tx1">
                    <a:lumMod val="85000"/>
                    <a:lumOff val="15000"/>
                  </a:schemeClr>
                </a:solidFill>
              </a:rPr>
              <a:t>principe</a:t>
            </a:r>
            <a:r>
              <a:rPr lang="en-US" sz="1400" cap="all" dirty="0">
                <a:solidFill>
                  <a:schemeClr val="tx1">
                    <a:lumMod val="85000"/>
                    <a:lumOff val="15000"/>
                  </a:schemeClr>
                </a:solidFill>
              </a:rPr>
              <a:t> de </a:t>
            </a:r>
            <a:r>
              <a:rPr lang="en-US" sz="1400" cap="all" dirty="0" err="1">
                <a:solidFill>
                  <a:schemeClr val="tx1">
                    <a:lumMod val="85000"/>
                    <a:lumOff val="15000"/>
                  </a:schemeClr>
                </a:solidFill>
              </a:rPr>
              <a:t>marche</a:t>
            </a:r>
            <a:r>
              <a:rPr lang="en-US" sz="1400" cap="all" dirty="0">
                <a:solidFill>
                  <a:schemeClr val="tx1">
                    <a:lumMod val="85000"/>
                    <a:lumOff val="15000"/>
                  </a:schemeClr>
                </a:solidFill>
              </a:rPr>
              <a:t> en </a:t>
            </a:r>
            <a:r>
              <a:rPr lang="en-US" sz="1400" cap="all" dirty="0" err="1">
                <a:solidFill>
                  <a:schemeClr val="tx1">
                    <a:lumMod val="85000"/>
                    <a:lumOff val="15000"/>
                  </a:schemeClr>
                </a:solidFill>
              </a:rPr>
              <a:t>avant</a:t>
            </a:r>
            <a:r>
              <a:rPr lang="en-US" sz="1400" cap="all" dirty="0">
                <a:solidFill>
                  <a:schemeClr val="tx1">
                    <a:lumMod val="85000"/>
                    <a:lumOff val="15000"/>
                  </a:schemeClr>
                </a:solidFill>
              </a:rPr>
              <a:t>, le </a:t>
            </a:r>
            <a:r>
              <a:rPr lang="en-US" sz="1400" cap="all" dirty="0" err="1">
                <a:solidFill>
                  <a:schemeClr val="tx1">
                    <a:lumMod val="85000"/>
                    <a:lumOff val="15000"/>
                  </a:schemeClr>
                </a:solidFill>
              </a:rPr>
              <a:t>porte</a:t>
            </a:r>
            <a:r>
              <a:rPr lang="en-US" sz="1400" cap="all" dirty="0">
                <a:solidFill>
                  <a:schemeClr val="tx1">
                    <a:lumMod val="85000"/>
                    <a:lumOff val="15000"/>
                  </a:schemeClr>
                </a:solidFill>
              </a:rPr>
              <a:t> </a:t>
            </a:r>
            <a:r>
              <a:rPr lang="en-US" sz="1400" cap="all" dirty="0" err="1">
                <a:solidFill>
                  <a:schemeClr val="tx1">
                    <a:lumMod val="85000"/>
                    <a:lumOff val="15000"/>
                  </a:schemeClr>
                </a:solidFill>
              </a:rPr>
              <a:t>d’entrée</a:t>
            </a:r>
            <a:r>
              <a:rPr lang="en-US" sz="1400" cap="all" dirty="0">
                <a:solidFill>
                  <a:schemeClr val="tx1">
                    <a:lumMod val="85000"/>
                    <a:lumOff val="15000"/>
                  </a:schemeClr>
                </a:solidFill>
              </a:rPr>
              <a:t> des matière premières doit </a:t>
            </a:r>
            <a:r>
              <a:rPr lang="en-US" sz="1400" cap="all" dirty="0" err="1">
                <a:solidFill>
                  <a:schemeClr val="tx1">
                    <a:lumMod val="85000"/>
                    <a:lumOff val="15000"/>
                  </a:schemeClr>
                </a:solidFill>
              </a:rPr>
              <a:t>être</a:t>
            </a:r>
            <a:r>
              <a:rPr lang="en-US" sz="1400" cap="all" dirty="0">
                <a:solidFill>
                  <a:schemeClr val="tx1">
                    <a:lumMod val="85000"/>
                    <a:lumOff val="15000"/>
                  </a:schemeClr>
                </a:solidFill>
              </a:rPr>
              <a:t> </a:t>
            </a:r>
            <a:r>
              <a:rPr lang="en-US" sz="1400" cap="all" dirty="0" err="1">
                <a:solidFill>
                  <a:schemeClr val="tx1">
                    <a:lumMod val="85000"/>
                    <a:lumOff val="15000"/>
                  </a:schemeClr>
                </a:solidFill>
              </a:rPr>
              <a:t>différente</a:t>
            </a:r>
            <a:r>
              <a:rPr lang="en-US" sz="1400" cap="all" dirty="0">
                <a:solidFill>
                  <a:schemeClr val="tx1">
                    <a:lumMod val="85000"/>
                    <a:lumOff val="15000"/>
                  </a:schemeClr>
                </a:solidFill>
              </a:rPr>
              <a:t> de </a:t>
            </a:r>
            <a:r>
              <a:rPr lang="en-US" sz="1400" cap="all" dirty="0" err="1">
                <a:solidFill>
                  <a:schemeClr val="tx1">
                    <a:lumMod val="85000"/>
                    <a:lumOff val="15000"/>
                  </a:schemeClr>
                </a:solidFill>
              </a:rPr>
              <a:t>celle</a:t>
            </a:r>
            <a:r>
              <a:rPr lang="en-US" sz="1400" cap="all" dirty="0">
                <a:solidFill>
                  <a:schemeClr val="tx1">
                    <a:lumMod val="85000"/>
                    <a:lumOff val="15000"/>
                  </a:schemeClr>
                </a:solidFill>
              </a:rPr>
              <a:t> de la sortie de produits </a:t>
            </a:r>
            <a:r>
              <a:rPr lang="en-US" sz="1400" cap="all" dirty="0" err="1">
                <a:solidFill>
                  <a:schemeClr val="tx1">
                    <a:lumMod val="85000"/>
                    <a:lumOff val="15000"/>
                  </a:schemeClr>
                </a:solidFill>
              </a:rPr>
              <a:t>finis</a:t>
            </a:r>
            <a:r>
              <a:rPr lang="en-US" sz="1400" cap="all" dirty="0">
                <a:solidFill>
                  <a:schemeClr val="tx1">
                    <a:lumMod val="85000"/>
                    <a:lumOff val="15000"/>
                  </a:schemeClr>
                </a:solidFill>
              </a:rPr>
              <a:t>. Les matières premières une </a:t>
            </a:r>
            <a:r>
              <a:rPr lang="en-US" sz="1400" cap="all" dirty="0" err="1">
                <a:solidFill>
                  <a:schemeClr val="tx1">
                    <a:lumMod val="85000"/>
                    <a:lumOff val="15000"/>
                  </a:schemeClr>
                </a:solidFill>
              </a:rPr>
              <a:t>fois</a:t>
            </a:r>
            <a:r>
              <a:rPr lang="en-US" sz="1400" cap="all" dirty="0">
                <a:solidFill>
                  <a:schemeClr val="tx1">
                    <a:lumMod val="85000"/>
                    <a:lumOff val="15000"/>
                  </a:schemeClr>
                </a:solidFill>
              </a:rPr>
              <a:t> à </a:t>
            </a:r>
            <a:r>
              <a:rPr lang="en-US" sz="1400" cap="all" dirty="0" err="1">
                <a:solidFill>
                  <a:schemeClr val="tx1">
                    <a:lumMod val="85000"/>
                    <a:lumOff val="15000"/>
                  </a:schemeClr>
                </a:solidFill>
              </a:rPr>
              <a:t>l’entrée</a:t>
            </a:r>
            <a:r>
              <a:rPr lang="en-US" sz="1400" cap="all" dirty="0">
                <a:solidFill>
                  <a:schemeClr val="tx1">
                    <a:lumMod val="85000"/>
                    <a:lumOff val="15000"/>
                  </a:schemeClr>
                </a:solidFill>
              </a:rPr>
              <a:t> doivent </a:t>
            </a:r>
            <a:r>
              <a:rPr lang="en-US" sz="1400" cap="all" dirty="0" err="1">
                <a:solidFill>
                  <a:schemeClr val="tx1">
                    <a:lumMod val="85000"/>
                    <a:lumOff val="15000"/>
                  </a:schemeClr>
                </a:solidFill>
              </a:rPr>
              <a:t>poursuivre</a:t>
            </a:r>
            <a:r>
              <a:rPr lang="en-US" sz="1400" cap="all" dirty="0">
                <a:solidFill>
                  <a:schemeClr val="tx1">
                    <a:lumMod val="85000"/>
                    <a:lumOff val="15000"/>
                  </a:schemeClr>
                </a:solidFill>
              </a:rPr>
              <a:t> les successions de </a:t>
            </a:r>
            <a:r>
              <a:rPr lang="en-US" sz="1400" cap="all" dirty="0" err="1">
                <a:solidFill>
                  <a:schemeClr val="tx1">
                    <a:lumMod val="85000"/>
                    <a:lumOff val="15000"/>
                  </a:schemeClr>
                </a:solidFill>
              </a:rPr>
              <a:t>procédée</a:t>
            </a:r>
            <a:r>
              <a:rPr lang="en-US" sz="1400" cap="all" dirty="0">
                <a:solidFill>
                  <a:schemeClr val="tx1">
                    <a:lumMod val="85000"/>
                    <a:lumOff val="15000"/>
                  </a:schemeClr>
                </a:solidFill>
              </a:rPr>
              <a:t> </a:t>
            </a:r>
            <a:r>
              <a:rPr lang="en-US" sz="1400" cap="all" dirty="0" err="1">
                <a:solidFill>
                  <a:schemeClr val="tx1">
                    <a:lumMod val="85000"/>
                    <a:lumOff val="15000"/>
                  </a:schemeClr>
                </a:solidFill>
              </a:rPr>
              <a:t>selon</a:t>
            </a:r>
            <a:r>
              <a:rPr lang="en-US" sz="1400" cap="all" dirty="0">
                <a:solidFill>
                  <a:schemeClr val="tx1">
                    <a:lumMod val="85000"/>
                    <a:lumOff val="15000"/>
                  </a:schemeClr>
                </a:solidFill>
              </a:rPr>
              <a:t> le </a:t>
            </a:r>
            <a:r>
              <a:rPr lang="en-US" sz="1400" cap="all" dirty="0" err="1">
                <a:solidFill>
                  <a:schemeClr val="tx1">
                    <a:lumMod val="85000"/>
                    <a:lumOff val="15000"/>
                  </a:schemeClr>
                </a:solidFill>
              </a:rPr>
              <a:t>schéma</a:t>
            </a:r>
            <a:r>
              <a:rPr lang="en-US" sz="1400" cap="all" dirty="0">
                <a:solidFill>
                  <a:schemeClr val="tx1">
                    <a:lumMod val="85000"/>
                    <a:lumOff val="15000"/>
                  </a:schemeClr>
                </a:solidFill>
              </a:rPr>
              <a:t> de production. </a:t>
            </a:r>
          </a:p>
          <a:p>
            <a:pPr indent="-228600" defTabSz="914400">
              <a:lnSpc>
                <a:spcPct val="110000"/>
              </a:lnSpc>
              <a:spcAft>
                <a:spcPts val="600"/>
              </a:spcAft>
              <a:buClr>
                <a:schemeClr val="accent1"/>
              </a:buClr>
              <a:buSzPct val="160000"/>
              <a:buFont typeface="Arial" panose="020B0604020202020204" pitchFamily="34" charset="0"/>
              <a:buChar char="•"/>
            </a:pPr>
            <a:r>
              <a:rPr lang="en-US" sz="1400" cap="all" dirty="0">
                <a:solidFill>
                  <a:schemeClr val="tx1">
                    <a:lumMod val="85000"/>
                    <a:lumOff val="15000"/>
                  </a:schemeClr>
                </a:solidFill>
              </a:rPr>
              <a:t>- Les </a:t>
            </a:r>
            <a:r>
              <a:rPr lang="en-US" sz="1400" cap="all" dirty="0" err="1">
                <a:solidFill>
                  <a:schemeClr val="tx1">
                    <a:lumMod val="85000"/>
                    <a:lumOff val="15000"/>
                  </a:schemeClr>
                </a:solidFill>
              </a:rPr>
              <a:t>lieux</a:t>
            </a:r>
            <a:r>
              <a:rPr lang="en-US" sz="1400" cap="all" dirty="0">
                <a:solidFill>
                  <a:schemeClr val="tx1">
                    <a:lumMod val="85000"/>
                    <a:lumOff val="15000"/>
                  </a:schemeClr>
                </a:solidFill>
              </a:rPr>
              <a:t> de production doivent </a:t>
            </a:r>
            <a:r>
              <a:rPr lang="en-US" sz="1400" cap="all" dirty="0" err="1">
                <a:solidFill>
                  <a:schemeClr val="tx1">
                    <a:lumMod val="85000"/>
                    <a:lumOff val="15000"/>
                  </a:schemeClr>
                </a:solidFill>
              </a:rPr>
              <a:t>être</a:t>
            </a:r>
            <a:r>
              <a:rPr lang="en-US" sz="1400" cap="all" dirty="0">
                <a:solidFill>
                  <a:schemeClr val="tx1">
                    <a:lumMod val="85000"/>
                    <a:lumOff val="15000"/>
                  </a:schemeClr>
                </a:solidFill>
              </a:rPr>
              <a:t> bien </a:t>
            </a:r>
            <a:r>
              <a:rPr lang="en-US" sz="1400" cap="all" dirty="0" err="1">
                <a:solidFill>
                  <a:schemeClr val="tx1">
                    <a:lumMod val="85000"/>
                    <a:lumOff val="15000"/>
                  </a:schemeClr>
                </a:solidFill>
              </a:rPr>
              <a:t>éclairée</a:t>
            </a:r>
            <a:r>
              <a:rPr lang="en-US" sz="1400" cap="all" dirty="0">
                <a:solidFill>
                  <a:schemeClr val="tx1">
                    <a:lumMod val="85000"/>
                    <a:lumOff val="15000"/>
                  </a:schemeClr>
                </a:solidFill>
              </a:rPr>
              <a:t> et bien </a:t>
            </a:r>
            <a:r>
              <a:rPr lang="en-US" sz="1400" cap="all" dirty="0" err="1">
                <a:solidFill>
                  <a:schemeClr val="tx1">
                    <a:lumMod val="85000"/>
                    <a:lumOff val="15000"/>
                  </a:schemeClr>
                </a:solidFill>
              </a:rPr>
              <a:t>airée</a:t>
            </a:r>
            <a:endParaRPr lang="en-US" sz="1400" cap="all" dirty="0">
              <a:solidFill>
                <a:schemeClr val="tx1">
                  <a:lumMod val="85000"/>
                  <a:lumOff val="15000"/>
                </a:schemeClr>
              </a:solidFill>
            </a:endParaRPr>
          </a:p>
          <a:p>
            <a:pPr indent="-228600" defTabSz="914400">
              <a:lnSpc>
                <a:spcPct val="110000"/>
              </a:lnSpc>
              <a:spcAft>
                <a:spcPts val="600"/>
              </a:spcAft>
              <a:buClr>
                <a:schemeClr val="accent1"/>
              </a:buClr>
              <a:buSzPct val="160000"/>
              <a:buFont typeface="Arial" panose="020B0604020202020204" pitchFamily="34" charset="0"/>
              <a:buChar char="•"/>
            </a:pPr>
            <a:r>
              <a:rPr lang="en-US" sz="1400" cap="all" dirty="0">
                <a:solidFill>
                  <a:schemeClr val="tx1">
                    <a:lumMod val="85000"/>
                    <a:lumOff val="15000"/>
                  </a:schemeClr>
                </a:solidFill>
              </a:rPr>
              <a:t>- </a:t>
            </a:r>
            <a:r>
              <a:rPr lang="en-US" sz="1400" cap="all" dirty="0" err="1">
                <a:solidFill>
                  <a:schemeClr val="tx1">
                    <a:lumMod val="85000"/>
                    <a:lumOff val="15000"/>
                  </a:schemeClr>
                </a:solidFill>
              </a:rPr>
              <a:t>l’espace</a:t>
            </a:r>
            <a:r>
              <a:rPr lang="en-US" sz="1400" cap="all" dirty="0">
                <a:solidFill>
                  <a:schemeClr val="tx1">
                    <a:lumMod val="85000"/>
                    <a:lumOff val="15000"/>
                  </a:schemeClr>
                </a:solidFill>
              </a:rPr>
              <a:t> doit </a:t>
            </a:r>
            <a:r>
              <a:rPr lang="en-US" sz="1400" cap="all" dirty="0" err="1">
                <a:solidFill>
                  <a:schemeClr val="tx1">
                    <a:lumMod val="85000"/>
                    <a:lumOff val="15000"/>
                  </a:schemeClr>
                </a:solidFill>
              </a:rPr>
              <a:t>être</a:t>
            </a:r>
            <a:r>
              <a:rPr lang="en-US" sz="1400" cap="all" dirty="0">
                <a:solidFill>
                  <a:schemeClr val="tx1">
                    <a:lumMod val="85000"/>
                    <a:lumOff val="15000"/>
                  </a:schemeClr>
                </a:solidFill>
              </a:rPr>
              <a:t> bien </a:t>
            </a:r>
            <a:r>
              <a:rPr lang="en-US" sz="1400" cap="all" dirty="0" err="1">
                <a:solidFill>
                  <a:schemeClr val="tx1">
                    <a:lumMod val="85000"/>
                    <a:lumOff val="15000"/>
                  </a:schemeClr>
                </a:solidFill>
              </a:rPr>
              <a:t>carrelé</a:t>
            </a:r>
            <a:r>
              <a:rPr lang="en-US" sz="1400" cap="all" dirty="0">
                <a:solidFill>
                  <a:schemeClr val="tx1">
                    <a:lumMod val="85000"/>
                    <a:lumOff val="15000"/>
                  </a:schemeClr>
                </a:solidFill>
              </a:rPr>
              <a:t> </a:t>
            </a:r>
          </a:p>
          <a:p>
            <a:pPr indent="-228600" defTabSz="914400">
              <a:lnSpc>
                <a:spcPct val="110000"/>
              </a:lnSpc>
              <a:spcAft>
                <a:spcPts val="600"/>
              </a:spcAft>
              <a:buClr>
                <a:schemeClr val="accent1"/>
              </a:buClr>
              <a:buSzPct val="160000"/>
              <a:buFont typeface="Arial" panose="020B0604020202020204" pitchFamily="34" charset="0"/>
              <a:buChar char="•"/>
            </a:pPr>
            <a:r>
              <a:rPr lang="en-US" sz="1400" cap="all" dirty="0">
                <a:solidFill>
                  <a:schemeClr val="tx1">
                    <a:lumMod val="85000"/>
                    <a:lumOff val="15000"/>
                  </a:schemeClr>
                </a:solidFill>
              </a:rPr>
              <a:t>- les </a:t>
            </a:r>
            <a:r>
              <a:rPr lang="en-US" sz="1400" cap="all" dirty="0" err="1">
                <a:solidFill>
                  <a:schemeClr val="tx1">
                    <a:lumMod val="85000"/>
                    <a:lumOff val="15000"/>
                  </a:schemeClr>
                </a:solidFill>
              </a:rPr>
              <a:t>mures</a:t>
            </a:r>
            <a:r>
              <a:rPr lang="en-US" sz="1400" cap="all" dirty="0">
                <a:solidFill>
                  <a:schemeClr val="tx1">
                    <a:lumMod val="85000"/>
                    <a:lumOff val="15000"/>
                  </a:schemeClr>
                </a:solidFill>
              </a:rPr>
              <a:t> doivent </a:t>
            </a:r>
            <a:r>
              <a:rPr lang="en-US" sz="1400" cap="all" dirty="0" err="1">
                <a:solidFill>
                  <a:schemeClr val="tx1">
                    <a:lumMod val="85000"/>
                    <a:lumOff val="15000"/>
                  </a:schemeClr>
                </a:solidFill>
              </a:rPr>
              <a:t>être</a:t>
            </a:r>
            <a:r>
              <a:rPr lang="en-US" sz="1400" cap="all" dirty="0">
                <a:solidFill>
                  <a:schemeClr val="tx1">
                    <a:lumMod val="85000"/>
                    <a:lumOff val="15000"/>
                  </a:schemeClr>
                </a:solidFill>
              </a:rPr>
              <a:t> </a:t>
            </a:r>
            <a:r>
              <a:rPr lang="en-US" sz="1400" cap="all" dirty="0" err="1">
                <a:solidFill>
                  <a:schemeClr val="tx1">
                    <a:lumMod val="85000"/>
                    <a:lumOff val="15000"/>
                  </a:schemeClr>
                </a:solidFill>
              </a:rPr>
              <a:t>peint</a:t>
            </a:r>
            <a:r>
              <a:rPr lang="en-US" sz="1400" cap="all" dirty="0">
                <a:solidFill>
                  <a:schemeClr val="tx1">
                    <a:lumMod val="85000"/>
                    <a:lumOff val="15000"/>
                  </a:schemeClr>
                </a:solidFill>
              </a:rPr>
              <a:t> de </a:t>
            </a:r>
            <a:r>
              <a:rPr lang="en-US" sz="1400" cap="all" dirty="0" err="1">
                <a:solidFill>
                  <a:schemeClr val="tx1">
                    <a:lumMod val="85000"/>
                    <a:lumOff val="15000"/>
                  </a:schemeClr>
                </a:solidFill>
              </a:rPr>
              <a:t>l’asseau</a:t>
            </a:r>
            <a:r>
              <a:rPr lang="en-US" sz="1400" cap="all" dirty="0">
                <a:solidFill>
                  <a:schemeClr val="tx1">
                    <a:lumMod val="85000"/>
                    <a:lumOff val="15000"/>
                  </a:schemeClr>
                </a:solidFill>
              </a:rPr>
              <a:t> tous les trois </a:t>
            </a:r>
            <a:r>
              <a:rPr lang="en-US" sz="1400" cap="all" dirty="0" err="1">
                <a:solidFill>
                  <a:schemeClr val="tx1">
                    <a:lumMod val="85000"/>
                    <a:lumOff val="15000"/>
                  </a:schemeClr>
                </a:solidFill>
              </a:rPr>
              <a:t>mois</a:t>
            </a:r>
            <a:r>
              <a:rPr lang="en-US" sz="1400" cap="all" dirty="0">
                <a:solidFill>
                  <a:schemeClr val="tx1">
                    <a:lumMod val="85000"/>
                    <a:lumOff val="15000"/>
                  </a:schemeClr>
                </a:solidFill>
              </a:rPr>
              <a:t> et/ou </a:t>
            </a:r>
            <a:r>
              <a:rPr lang="en-US" sz="1400" cap="all" dirty="0" err="1">
                <a:solidFill>
                  <a:schemeClr val="tx1">
                    <a:lumMod val="85000"/>
                    <a:lumOff val="15000"/>
                  </a:schemeClr>
                </a:solidFill>
              </a:rPr>
              <a:t>carrelées</a:t>
            </a:r>
            <a:r>
              <a:rPr lang="en-US" sz="1400" cap="all" dirty="0">
                <a:solidFill>
                  <a:schemeClr val="tx1">
                    <a:lumMod val="85000"/>
                    <a:lumOff val="15000"/>
                  </a:schemeClr>
                </a:solidFill>
              </a:rPr>
              <a:t> </a:t>
            </a:r>
            <a:r>
              <a:rPr lang="en-US" sz="1400" cap="all" dirty="0" err="1">
                <a:solidFill>
                  <a:schemeClr val="tx1">
                    <a:lumMod val="85000"/>
                    <a:lumOff val="15000"/>
                  </a:schemeClr>
                </a:solidFill>
              </a:rPr>
              <a:t>jusqu’à</a:t>
            </a:r>
            <a:r>
              <a:rPr lang="en-US" sz="1400" cap="all" dirty="0">
                <a:solidFill>
                  <a:schemeClr val="tx1">
                    <a:lumMod val="85000"/>
                    <a:lumOff val="15000"/>
                  </a:schemeClr>
                </a:solidFill>
              </a:rPr>
              <a:t> un </a:t>
            </a:r>
            <a:r>
              <a:rPr lang="en-US" sz="1400" cap="all" dirty="0" err="1">
                <a:solidFill>
                  <a:schemeClr val="tx1">
                    <a:lumMod val="85000"/>
                    <a:lumOff val="15000"/>
                  </a:schemeClr>
                </a:solidFill>
              </a:rPr>
              <a:t>mètre</a:t>
            </a:r>
            <a:r>
              <a:rPr lang="en-US" sz="1400" cap="all" dirty="0">
                <a:solidFill>
                  <a:schemeClr val="tx1">
                    <a:lumMod val="85000"/>
                    <a:lumOff val="15000"/>
                  </a:schemeClr>
                </a:solidFill>
              </a:rPr>
              <a:t> de hauteur</a:t>
            </a:r>
          </a:p>
          <a:p>
            <a:pPr indent="-228600" defTabSz="914400">
              <a:lnSpc>
                <a:spcPct val="110000"/>
              </a:lnSpc>
              <a:spcAft>
                <a:spcPts val="600"/>
              </a:spcAft>
              <a:buClr>
                <a:schemeClr val="accent1"/>
              </a:buClr>
              <a:buSzPct val="160000"/>
              <a:buFont typeface="Arial" panose="020B0604020202020204" pitchFamily="34" charset="0"/>
              <a:buChar char="•"/>
            </a:pPr>
            <a:r>
              <a:rPr lang="en-US" sz="1400" cap="all" dirty="0">
                <a:solidFill>
                  <a:schemeClr val="tx1">
                    <a:lumMod val="85000"/>
                    <a:lumOff val="15000"/>
                  </a:schemeClr>
                </a:solidFill>
              </a:rPr>
              <a:t>- Les </a:t>
            </a:r>
            <a:r>
              <a:rPr lang="en-US" sz="1400" cap="all" dirty="0" err="1">
                <a:solidFill>
                  <a:schemeClr val="tx1">
                    <a:lumMod val="85000"/>
                    <a:lumOff val="15000"/>
                  </a:schemeClr>
                </a:solidFill>
              </a:rPr>
              <a:t>bureaux</a:t>
            </a:r>
            <a:r>
              <a:rPr lang="en-US" sz="1400" cap="all" dirty="0">
                <a:solidFill>
                  <a:schemeClr val="tx1">
                    <a:lumMod val="85000"/>
                    <a:lumOff val="15000"/>
                  </a:schemeClr>
                </a:solidFill>
              </a:rPr>
              <a:t> et les </a:t>
            </a:r>
            <a:r>
              <a:rPr lang="en-US" sz="1400" cap="all" dirty="0" err="1">
                <a:solidFill>
                  <a:schemeClr val="tx1">
                    <a:lumMod val="85000"/>
                    <a:lumOff val="15000"/>
                  </a:schemeClr>
                </a:solidFill>
              </a:rPr>
              <a:t>vestiaires</a:t>
            </a:r>
            <a:r>
              <a:rPr lang="en-US" sz="1400" cap="all" dirty="0">
                <a:solidFill>
                  <a:schemeClr val="tx1">
                    <a:lumMod val="85000"/>
                    <a:lumOff val="15000"/>
                  </a:schemeClr>
                </a:solidFill>
              </a:rPr>
              <a:t> du personnel doivent </a:t>
            </a:r>
            <a:r>
              <a:rPr lang="en-US" sz="1400" cap="all" dirty="0" err="1">
                <a:solidFill>
                  <a:schemeClr val="tx1">
                    <a:lumMod val="85000"/>
                    <a:lumOff val="15000"/>
                  </a:schemeClr>
                </a:solidFill>
              </a:rPr>
              <a:t>être</a:t>
            </a:r>
            <a:r>
              <a:rPr lang="en-US" sz="1400" cap="all" dirty="0">
                <a:solidFill>
                  <a:schemeClr val="tx1">
                    <a:lumMod val="85000"/>
                    <a:lumOff val="15000"/>
                  </a:schemeClr>
                </a:solidFill>
              </a:rPr>
              <a:t> </a:t>
            </a:r>
            <a:r>
              <a:rPr lang="en-US" sz="1400" cap="all" dirty="0" err="1">
                <a:solidFill>
                  <a:schemeClr val="tx1">
                    <a:lumMod val="85000"/>
                    <a:lumOff val="15000"/>
                  </a:schemeClr>
                </a:solidFill>
              </a:rPr>
              <a:t>éloignés</a:t>
            </a:r>
            <a:endParaRPr lang="en-US" sz="1400" cap="all" dirty="0">
              <a:solidFill>
                <a:schemeClr val="tx1">
                  <a:lumMod val="85000"/>
                  <a:lumOff val="15000"/>
                </a:schemeClr>
              </a:solidFill>
            </a:endParaRPr>
          </a:p>
          <a:p>
            <a:pPr indent="-228600" defTabSz="914400">
              <a:lnSpc>
                <a:spcPct val="110000"/>
              </a:lnSpc>
              <a:spcAft>
                <a:spcPts val="600"/>
              </a:spcAft>
              <a:buClr>
                <a:schemeClr val="accent1"/>
              </a:buClr>
              <a:buSzPct val="160000"/>
              <a:buFont typeface="Arial" panose="020B0604020202020204" pitchFamily="34" charset="0"/>
              <a:buChar char="•"/>
            </a:pPr>
            <a:endParaRPr lang="en-US" sz="1400" cap="all" dirty="0">
              <a:solidFill>
                <a:schemeClr val="tx1">
                  <a:lumMod val="85000"/>
                  <a:lumOff val="15000"/>
                </a:schemeClr>
              </a:solidFill>
            </a:endParaRPr>
          </a:p>
          <a:p>
            <a:pPr indent="-228600" defTabSz="914400">
              <a:lnSpc>
                <a:spcPct val="110000"/>
              </a:lnSpc>
              <a:spcAft>
                <a:spcPts val="600"/>
              </a:spcAft>
              <a:buClr>
                <a:schemeClr val="accent1"/>
              </a:buClr>
              <a:buSzPct val="160000"/>
              <a:buFont typeface="Arial" panose="020B0604020202020204" pitchFamily="34" charset="0"/>
              <a:buChar char="•"/>
            </a:pPr>
            <a:r>
              <a:rPr lang="en-US" sz="1400" cap="all" dirty="0" err="1">
                <a:solidFill>
                  <a:schemeClr val="tx1">
                    <a:lumMod val="85000"/>
                    <a:lumOff val="15000"/>
                  </a:schemeClr>
                </a:solidFill>
              </a:rPr>
              <a:t>Agrément</a:t>
            </a:r>
            <a:r>
              <a:rPr lang="en-US" sz="1400" cap="all" dirty="0">
                <a:solidFill>
                  <a:schemeClr val="tx1">
                    <a:lumMod val="85000"/>
                    <a:lumOff val="15000"/>
                  </a:schemeClr>
                </a:solidFill>
              </a:rPr>
              <a:t> local</a:t>
            </a:r>
          </a:p>
          <a:p>
            <a:pPr indent="-228600" defTabSz="914400">
              <a:lnSpc>
                <a:spcPct val="110000"/>
              </a:lnSpc>
              <a:spcAft>
                <a:spcPts val="600"/>
              </a:spcAft>
              <a:buClr>
                <a:schemeClr val="accent1"/>
              </a:buClr>
              <a:buSzPct val="160000"/>
              <a:buFont typeface="Arial" panose="020B0604020202020204" pitchFamily="34" charset="0"/>
              <a:buChar char="•"/>
            </a:pPr>
            <a:r>
              <a:rPr lang="en-US" sz="1400" cap="all" dirty="0" err="1">
                <a:solidFill>
                  <a:schemeClr val="tx1">
                    <a:lumMod val="85000"/>
                    <a:lumOff val="15000"/>
                  </a:schemeClr>
                </a:solidFill>
              </a:rPr>
              <a:t>Délivré</a:t>
            </a:r>
            <a:r>
              <a:rPr lang="en-US" sz="1400" cap="all" dirty="0">
                <a:solidFill>
                  <a:schemeClr val="tx1">
                    <a:lumMod val="85000"/>
                    <a:lumOff val="15000"/>
                  </a:schemeClr>
                </a:solidFill>
              </a:rPr>
              <a:t> par les agents du direction des </a:t>
            </a:r>
            <a:r>
              <a:rPr lang="en-US" sz="1400" cap="all" dirty="0" err="1">
                <a:solidFill>
                  <a:schemeClr val="tx1">
                    <a:lumMod val="85000"/>
                    <a:lumOff val="15000"/>
                  </a:schemeClr>
                </a:solidFill>
              </a:rPr>
              <a:t>commerces</a:t>
            </a:r>
            <a:r>
              <a:rPr lang="en-US" sz="1400" cap="all" dirty="0">
                <a:solidFill>
                  <a:schemeClr val="tx1">
                    <a:lumMod val="85000"/>
                    <a:lumOff val="15000"/>
                  </a:schemeClr>
                </a:solidFill>
              </a:rPr>
              <a:t> </a:t>
            </a:r>
            <a:r>
              <a:rPr lang="en-US" sz="1400" cap="all" dirty="0" err="1">
                <a:solidFill>
                  <a:schemeClr val="tx1">
                    <a:lumMod val="85000"/>
                    <a:lumOff val="15000"/>
                  </a:schemeClr>
                </a:solidFill>
              </a:rPr>
              <a:t>intérieur</a:t>
            </a:r>
            <a:r>
              <a:rPr lang="en-US" sz="1400" cap="all" dirty="0">
                <a:solidFill>
                  <a:schemeClr val="tx1">
                    <a:lumMod val="85000"/>
                    <a:lumOff val="15000"/>
                  </a:schemeClr>
                </a:solidFill>
              </a:rPr>
              <a:t> du </a:t>
            </a:r>
            <a:r>
              <a:rPr lang="en-US" sz="1400" cap="all" dirty="0" err="1">
                <a:solidFill>
                  <a:schemeClr val="tx1">
                    <a:lumMod val="85000"/>
                    <a:lumOff val="15000"/>
                  </a:schemeClr>
                </a:solidFill>
              </a:rPr>
              <a:t>ministère</a:t>
            </a:r>
            <a:r>
              <a:rPr lang="en-US" sz="1400" cap="all" dirty="0">
                <a:solidFill>
                  <a:schemeClr val="tx1">
                    <a:lumMod val="85000"/>
                    <a:lumOff val="15000"/>
                  </a:schemeClr>
                </a:solidFill>
              </a:rPr>
              <a:t> du commerce de la </a:t>
            </a:r>
            <a:r>
              <a:rPr lang="en-US" sz="1400" cap="all" dirty="0" err="1">
                <a:solidFill>
                  <a:schemeClr val="tx1">
                    <a:lumMod val="85000"/>
                    <a:lumOff val="15000"/>
                  </a:schemeClr>
                </a:solidFill>
              </a:rPr>
              <a:t>consommation</a:t>
            </a:r>
            <a:r>
              <a:rPr lang="en-US" sz="1400" cap="all" dirty="0">
                <a:solidFill>
                  <a:schemeClr val="tx1">
                    <a:lumMod val="85000"/>
                    <a:lumOff val="15000"/>
                  </a:schemeClr>
                </a:solidFill>
              </a:rPr>
              <a:t> et des PME après </a:t>
            </a:r>
            <a:r>
              <a:rPr lang="en-US" sz="1400" cap="all" dirty="0" err="1">
                <a:solidFill>
                  <a:schemeClr val="tx1">
                    <a:lumMod val="85000"/>
                    <a:lumOff val="15000"/>
                  </a:schemeClr>
                </a:solidFill>
              </a:rPr>
              <a:t>visite</a:t>
            </a:r>
            <a:r>
              <a:rPr lang="en-US" sz="1400" cap="all" dirty="0">
                <a:solidFill>
                  <a:schemeClr val="tx1">
                    <a:lumMod val="85000"/>
                    <a:lumOff val="15000"/>
                  </a:schemeClr>
                </a:solidFill>
              </a:rPr>
              <a:t> et observation des </a:t>
            </a:r>
            <a:r>
              <a:rPr lang="en-US" sz="1400" cap="all" dirty="0" err="1">
                <a:solidFill>
                  <a:schemeClr val="tx1">
                    <a:lumMod val="85000"/>
                    <a:lumOff val="15000"/>
                  </a:schemeClr>
                </a:solidFill>
              </a:rPr>
              <a:t>lieux</a:t>
            </a:r>
            <a:r>
              <a:rPr lang="en-US" sz="1400" cap="all" dirty="0">
                <a:solidFill>
                  <a:schemeClr val="tx1">
                    <a:lumMod val="85000"/>
                    <a:lumOff val="15000"/>
                  </a:schemeClr>
                </a:solidFill>
              </a:rPr>
              <a:t> de production </a:t>
            </a:r>
            <a:r>
              <a:rPr lang="en-US" sz="1400" cap="all" dirty="0" err="1">
                <a:solidFill>
                  <a:schemeClr val="tx1">
                    <a:lumMod val="85000"/>
                    <a:lumOff val="15000"/>
                  </a:schemeClr>
                </a:solidFill>
              </a:rPr>
              <a:t>conformément</a:t>
            </a:r>
            <a:r>
              <a:rPr lang="en-US" sz="1400" cap="all" dirty="0">
                <a:solidFill>
                  <a:schemeClr val="tx1">
                    <a:lumMod val="85000"/>
                    <a:lumOff val="15000"/>
                  </a:schemeClr>
                </a:solidFill>
              </a:rPr>
              <a:t> aux normes</a:t>
            </a:r>
          </a:p>
        </p:txBody>
      </p:sp>
      <p:pic>
        <p:nvPicPr>
          <p:cNvPr id="4098" name="Picture 2" descr="page6image57226752">
            <a:extLst>
              <a:ext uri="{FF2B5EF4-FFF2-40B4-BE49-F238E27FC236}">
                <a16:creationId xmlns:a16="http://schemas.microsoft.com/office/drawing/2014/main" id="{8B267B49-4F1A-2B12-800C-2536C6697A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36525"/>
            <a:ext cx="787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page6image57215616">
            <a:extLst>
              <a:ext uri="{FF2B5EF4-FFF2-40B4-BE49-F238E27FC236}">
                <a16:creationId xmlns:a16="http://schemas.microsoft.com/office/drawing/2014/main" id="{9C23FF2F-2682-5DEA-99F7-5D0F22B2F6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136525"/>
            <a:ext cx="1828800" cy="127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page6image57224448">
            <a:extLst>
              <a:ext uri="{FF2B5EF4-FFF2-40B4-BE49-F238E27FC236}">
                <a16:creationId xmlns:a16="http://schemas.microsoft.com/office/drawing/2014/main" id="{7827AF51-903F-1792-6D32-D28B7DE47E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5000" y="-136525"/>
            <a:ext cx="1181100" cy="12700"/>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page6image57226944">
            <a:extLst>
              <a:ext uri="{FF2B5EF4-FFF2-40B4-BE49-F238E27FC236}">
                <a16:creationId xmlns:a16="http://schemas.microsoft.com/office/drawing/2014/main" id="{FE534939-EEB9-4979-2044-FBFE0A1DA01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136525"/>
            <a:ext cx="711200" cy="127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page6image57222720">
            <a:extLst>
              <a:ext uri="{FF2B5EF4-FFF2-40B4-BE49-F238E27FC236}">
                <a16:creationId xmlns:a16="http://schemas.microsoft.com/office/drawing/2014/main" id="{5121857D-7649-CF1E-E594-D409F016734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24500" y="-136525"/>
            <a:ext cx="609600" cy="12700"/>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74B451C7-6D0F-DEB0-5AAF-47D804015081}"/>
              </a:ext>
            </a:extLst>
          </p:cNvPr>
          <p:cNvSpPr txBox="1"/>
          <p:nvPr/>
        </p:nvSpPr>
        <p:spPr>
          <a:xfrm>
            <a:off x="1800225" y="2085975"/>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686940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1" descr="page7image58830416">
            <a:extLst>
              <a:ext uri="{FF2B5EF4-FFF2-40B4-BE49-F238E27FC236}">
                <a16:creationId xmlns:a16="http://schemas.microsoft.com/office/drawing/2014/main" id="{E433D7EA-96C5-E180-260E-5ACB8A094C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270" y="0"/>
            <a:ext cx="11529391" cy="4863548"/>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322C1D3D-2B9F-E712-17C7-4EADC921C893}"/>
              </a:ext>
            </a:extLst>
          </p:cNvPr>
          <p:cNvSpPr txBox="1"/>
          <p:nvPr/>
        </p:nvSpPr>
        <p:spPr>
          <a:xfrm>
            <a:off x="4572000" y="5217545"/>
            <a:ext cx="2863284" cy="369332"/>
          </a:xfrm>
          <a:prstGeom prst="rect">
            <a:avLst/>
          </a:prstGeom>
          <a:noFill/>
        </p:spPr>
        <p:txBody>
          <a:bodyPr wrap="none" rtlCol="0">
            <a:spAutoFit/>
          </a:bodyPr>
          <a:lstStyle/>
          <a:p>
            <a:r>
              <a:rPr lang="fr-FR" dirty="0"/>
              <a:t>Principe de Marche en Avant</a:t>
            </a:r>
          </a:p>
        </p:txBody>
      </p:sp>
      <p:sp>
        <p:nvSpPr>
          <p:cNvPr id="6" name="Flèche vers la droite 5">
            <a:extLst>
              <a:ext uri="{FF2B5EF4-FFF2-40B4-BE49-F238E27FC236}">
                <a16:creationId xmlns:a16="http://schemas.microsoft.com/office/drawing/2014/main" id="{44BEFAF8-A9B4-12BF-072E-D74D7E5C0642}"/>
              </a:ext>
            </a:extLst>
          </p:cNvPr>
          <p:cNvSpPr/>
          <p:nvPr/>
        </p:nvSpPr>
        <p:spPr>
          <a:xfrm>
            <a:off x="1221389" y="4878432"/>
            <a:ext cx="9107943"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DE0E6B69-9EDB-349C-8571-C56C60E0A9C2}"/>
              </a:ext>
            </a:extLst>
          </p:cNvPr>
          <p:cNvSpPr txBox="1"/>
          <p:nvPr/>
        </p:nvSpPr>
        <p:spPr>
          <a:xfrm>
            <a:off x="118533" y="5232400"/>
            <a:ext cx="2061783" cy="369332"/>
          </a:xfrm>
          <a:prstGeom prst="rect">
            <a:avLst/>
          </a:prstGeom>
          <a:noFill/>
        </p:spPr>
        <p:txBody>
          <a:bodyPr wrap="none" rtlCol="0">
            <a:spAutoFit/>
          </a:bodyPr>
          <a:lstStyle/>
          <a:p>
            <a:r>
              <a:rPr lang="fr-FR" dirty="0"/>
              <a:t>Matières premières</a:t>
            </a:r>
          </a:p>
        </p:txBody>
      </p:sp>
      <p:sp>
        <p:nvSpPr>
          <p:cNvPr id="11" name="ZoneTexte 10">
            <a:extLst>
              <a:ext uri="{FF2B5EF4-FFF2-40B4-BE49-F238E27FC236}">
                <a16:creationId xmlns:a16="http://schemas.microsoft.com/office/drawing/2014/main" id="{AFD229E1-2941-105F-0969-CFB810701E93}"/>
              </a:ext>
            </a:extLst>
          </p:cNvPr>
          <p:cNvSpPr txBox="1"/>
          <p:nvPr/>
        </p:nvSpPr>
        <p:spPr>
          <a:xfrm>
            <a:off x="10363200" y="5232401"/>
            <a:ext cx="1446230" cy="369332"/>
          </a:xfrm>
          <a:prstGeom prst="rect">
            <a:avLst/>
          </a:prstGeom>
          <a:noFill/>
        </p:spPr>
        <p:txBody>
          <a:bodyPr wrap="none" rtlCol="0">
            <a:spAutoFit/>
          </a:bodyPr>
          <a:lstStyle/>
          <a:p>
            <a:r>
              <a:rPr lang="fr-FR" dirty="0"/>
              <a:t>Produits finis</a:t>
            </a:r>
          </a:p>
        </p:txBody>
      </p:sp>
    </p:spTree>
    <p:extLst>
      <p:ext uri="{BB962C8B-B14F-4D97-AF65-F5344CB8AC3E}">
        <p14:creationId xmlns:p14="http://schemas.microsoft.com/office/powerpoint/2010/main" val="2229473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59743D33-B433-E644-28EE-561236429D43}"/>
              </a:ext>
            </a:extLst>
          </p:cNvPr>
          <p:cNvSpPr txBox="1"/>
          <p:nvPr/>
        </p:nvSpPr>
        <p:spPr>
          <a:xfrm>
            <a:off x="344557" y="106017"/>
            <a:ext cx="11277600" cy="5632311"/>
          </a:xfrm>
          <a:prstGeom prst="rect">
            <a:avLst/>
          </a:prstGeom>
          <a:noFill/>
        </p:spPr>
        <p:txBody>
          <a:bodyPr wrap="square" rtlCol="0">
            <a:spAutoFit/>
          </a:bodyPr>
          <a:lstStyle/>
          <a:p>
            <a:r>
              <a:rPr lang="fr-FR" dirty="0"/>
              <a:t>A:  Aire de réception</a:t>
            </a:r>
          </a:p>
          <a:p>
            <a:r>
              <a:rPr lang="fr-FR" dirty="0"/>
              <a:t>B: Stockage de matières premières</a:t>
            </a:r>
          </a:p>
          <a:p>
            <a:r>
              <a:rPr lang="fr-FR" dirty="0"/>
              <a:t>C: Pesage</a:t>
            </a:r>
          </a:p>
          <a:p>
            <a:r>
              <a:rPr lang="fr-FR" dirty="0"/>
              <a:t>E: Lavage</a:t>
            </a:r>
          </a:p>
          <a:p>
            <a:r>
              <a:rPr lang="fr-FR" dirty="0"/>
              <a:t>F: Triage- Parage</a:t>
            </a:r>
          </a:p>
          <a:p>
            <a:r>
              <a:rPr lang="fr-FR" dirty="0"/>
              <a:t>G: </a:t>
            </a:r>
            <a:r>
              <a:rPr lang="fr-FR" dirty="0" err="1"/>
              <a:t>Dyautage</a:t>
            </a:r>
            <a:r>
              <a:rPr lang="fr-FR" dirty="0"/>
              <a:t>- </a:t>
            </a:r>
            <a:r>
              <a:rPr lang="fr-FR" dirty="0" err="1"/>
              <a:t>Dupage</a:t>
            </a:r>
            <a:endParaRPr lang="fr-FR" dirty="0"/>
          </a:p>
          <a:p>
            <a:r>
              <a:rPr lang="fr-FR" dirty="0"/>
              <a:t>H: Broyage</a:t>
            </a:r>
          </a:p>
          <a:p>
            <a:r>
              <a:rPr lang="fr-FR" dirty="0"/>
              <a:t>i: Tamisage</a:t>
            </a:r>
          </a:p>
          <a:p>
            <a:r>
              <a:rPr lang="fr-FR" dirty="0"/>
              <a:t>J: Bacs</a:t>
            </a:r>
          </a:p>
          <a:p>
            <a:r>
              <a:rPr lang="fr-FR" dirty="0"/>
              <a:t>K: Stocks d’</a:t>
            </a:r>
            <a:r>
              <a:rPr lang="fr-FR" dirty="0" err="1"/>
              <a:t>ingredients</a:t>
            </a:r>
            <a:endParaRPr lang="fr-FR" dirty="0"/>
          </a:p>
          <a:p>
            <a:r>
              <a:rPr lang="fr-FR" dirty="0"/>
              <a:t>L: Bassines de cuisson/ Marmites</a:t>
            </a:r>
          </a:p>
          <a:p>
            <a:r>
              <a:rPr lang="fr-FR" dirty="0"/>
              <a:t>M: Stocks de pots, bocaux, bouteilles, couvercles, capsules</a:t>
            </a:r>
          </a:p>
          <a:p>
            <a:r>
              <a:rPr lang="fr-FR" dirty="0"/>
              <a:t>N: Remplissage</a:t>
            </a:r>
          </a:p>
          <a:p>
            <a:r>
              <a:rPr lang="fr-FR" dirty="0"/>
              <a:t>O: </a:t>
            </a:r>
            <a:r>
              <a:rPr lang="fr-FR" dirty="0" err="1"/>
              <a:t>Dupage</a:t>
            </a:r>
            <a:r>
              <a:rPr lang="fr-FR" dirty="0"/>
              <a:t>/enrobage/conditionnement</a:t>
            </a:r>
          </a:p>
          <a:p>
            <a:r>
              <a:rPr lang="fr-FR" dirty="0"/>
              <a:t>P: Refroidissement</a:t>
            </a:r>
          </a:p>
          <a:p>
            <a:r>
              <a:rPr lang="fr-FR" dirty="0"/>
              <a:t>Q: Etiquetage/encartonnage</a:t>
            </a:r>
          </a:p>
          <a:p>
            <a:r>
              <a:rPr lang="fr-FR" dirty="0"/>
              <a:t>R: Stocks de produits finis/ Cartons vides</a:t>
            </a:r>
          </a:p>
          <a:p>
            <a:r>
              <a:rPr lang="fr-FR" dirty="0"/>
              <a:t>S: </a:t>
            </a:r>
            <a:r>
              <a:rPr lang="fr-FR" dirty="0" err="1"/>
              <a:t>Chaudi</a:t>
            </a:r>
            <a:endParaRPr lang="fr-FR" dirty="0"/>
          </a:p>
          <a:p>
            <a:r>
              <a:rPr lang="fr-FR" dirty="0" err="1"/>
              <a:t>T</a:t>
            </a:r>
            <a:r>
              <a:rPr lang="fr-FR" dirty="0"/>
              <a:t>: Magasin d’entretien</a:t>
            </a:r>
          </a:p>
          <a:p>
            <a:endParaRPr lang="fr-FR" dirty="0"/>
          </a:p>
        </p:txBody>
      </p:sp>
    </p:spTree>
    <p:extLst>
      <p:ext uri="{BB962C8B-B14F-4D97-AF65-F5344CB8AC3E}">
        <p14:creationId xmlns:p14="http://schemas.microsoft.com/office/powerpoint/2010/main" val="3227902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361D33D3-25F2-8B78-8928-11E21A3D28A9}"/>
              </a:ext>
            </a:extLst>
          </p:cNvPr>
          <p:cNvSpPr txBox="1"/>
          <p:nvPr/>
        </p:nvSpPr>
        <p:spPr>
          <a:xfrm>
            <a:off x="569843" y="516835"/>
            <a:ext cx="10866783" cy="1200329"/>
          </a:xfrm>
          <a:prstGeom prst="rect">
            <a:avLst/>
          </a:prstGeom>
          <a:noFill/>
        </p:spPr>
        <p:txBody>
          <a:bodyPr wrap="square" rtlCol="0">
            <a:spAutoFit/>
          </a:bodyPr>
          <a:lstStyle/>
          <a:p>
            <a:r>
              <a:rPr lang="fr-FR" dirty="0"/>
              <a:t>U: Sanitaire et Vestiaires</a:t>
            </a:r>
          </a:p>
          <a:p>
            <a:r>
              <a:rPr lang="fr-FR" dirty="0"/>
              <a:t>V: Bureaux</a:t>
            </a:r>
          </a:p>
          <a:p>
            <a:r>
              <a:rPr lang="fr-FR" dirty="0"/>
              <a:t>W: Zone pré pour l’expansion</a:t>
            </a:r>
          </a:p>
          <a:p>
            <a:endParaRPr lang="fr-FR" dirty="0"/>
          </a:p>
        </p:txBody>
      </p:sp>
    </p:spTree>
    <p:extLst>
      <p:ext uri="{BB962C8B-B14F-4D97-AF65-F5344CB8AC3E}">
        <p14:creationId xmlns:p14="http://schemas.microsoft.com/office/powerpoint/2010/main" val="77640038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Grand événem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docProps/app.xml><?xml version="1.0" encoding="utf-8"?>
<Properties xmlns="http://schemas.openxmlformats.org/officeDocument/2006/extended-properties" xmlns:vt="http://schemas.openxmlformats.org/officeDocument/2006/docPropsVTypes">
  <Template>Grand événement</Template>
  <TotalTime>3653</TotalTime>
  <Words>1343</Words>
  <Application>Microsoft Macintosh PowerPoint</Application>
  <PresentationFormat>Grand écran</PresentationFormat>
  <Paragraphs>307</Paragraphs>
  <Slides>11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11</vt:i4>
      </vt:variant>
    </vt:vector>
  </HeadingPairs>
  <TitlesOfParts>
    <vt:vector size="16" baseType="lpstr">
      <vt:lpstr>Arial</vt:lpstr>
      <vt:lpstr>Calibri</vt:lpstr>
      <vt:lpstr>Impact</vt:lpstr>
      <vt:lpstr>TimesNewRomanPSMT</vt:lpstr>
      <vt:lpstr>Grand événement</vt:lpstr>
      <vt:lpstr>Conception d’une unité de transformation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Conception d’une unité de transformation</dc:title>
  <dc:creator>Macbook </dc:creator>
  <cp:lastModifiedBy>Macbook </cp:lastModifiedBy>
  <cp:revision>3</cp:revision>
  <dcterms:created xsi:type="dcterms:W3CDTF">2024-03-23T17:21:01Z</dcterms:created>
  <dcterms:modified xsi:type="dcterms:W3CDTF">2024-04-02T01:58:34Z</dcterms:modified>
</cp:coreProperties>
</file>