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56" r:id="rId3"/>
    <p:sldId id="257" r:id="rId4"/>
    <p:sldId id="281" r:id="rId5"/>
    <p:sldId id="259" r:id="rId6"/>
    <p:sldId id="260" r:id="rId7"/>
    <p:sldId id="261" r:id="rId8"/>
    <p:sldId id="27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0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娣辫壊鏍峰紡 1 - 寮鸿皟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涓害鏍峰紡 2 - 寮鸿皟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涓害鏍峰紡 4 - 寮鸿皟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1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76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242FD-77E3-4B6D-82E2-5F452915A9CB}" type="datetime1">
              <a:rPr lang="fr-FR" smtClean="0"/>
              <a:t>05/01/2023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FE370-7E9D-4F37-9338-B97803008C5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2_210_120" hidden="1"/>
          <p:cNvSpPr/>
          <p:nvPr/>
        </p:nvSpPr>
        <p:spPr>
          <a:xfrm>
            <a:off x="152400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sp>
        <p:nvSpPr>
          <p:cNvPr id="2" name="Présentation des projets">
            <a:extLst>
              <a:ext uri="{FF2B5EF4-FFF2-40B4-BE49-F238E27FC236}">
                <a16:creationId xmlns:a16="http://schemas.microsoft.com/office/drawing/2014/main" id="{1F21313E-136C-FF6B-2C41-993A30A6745E}"/>
              </a:ext>
            </a:extLst>
          </p:cNvPr>
          <p:cNvSpPr txBox="1"/>
          <p:nvPr/>
        </p:nvSpPr>
        <p:spPr>
          <a:xfrm rot="21569537">
            <a:off x="-6713" y="1365526"/>
            <a:ext cx="12192806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4500">
                <a:solidFill>
                  <a:srgbClr val="629737"/>
                </a:solidFill>
              </a:defRPr>
            </a:lvl1pPr>
          </a:lstStyle>
          <a:p>
            <a:pPr lvl="1" algn="ctr"/>
            <a:r>
              <a:rPr lang="fr-FR" sz="3600" b="1" dirty="0">
                <a:solidFill>
                  <a:srgbClr val="002060"/>
                </a:solidFill>
                <a:latin typeface="Gilroy" panose="00000500000000000000" pitchFamily="2" charset="0"/>
              </a:rPr>
              <a:t>ENTREPRENARIAT INCLUSIF</a:t>
            </a:r>
            <a:endParaRPr lang="fr-FR" sz="5400" b="1" dirty="0">
              <a:solidFill>
                <a:srgbClr val="002060"/>
              </a:solidFill>
              <a:latin typeface="Gilroy" panose="00000500000000000000" pitchFamily="2" charset="0"/>
            </a:endParaRPr>
          </a:p>
        </p:txBody>
      </p:sp>
      <p:sp>
        <p:nvSpPr>
          <p:cNvPr id="4" name="Présentation des projets">
            <a:extLst>
              <a:ext uri="{FF2B5EF4-FFF2-40B4-BE49-F238E27FC236}">
                <a16:creationId xmlns:a16="http://schemas.microsoft.com/office/drawing/2014/main" id="{A36BF456-A506-9A35-809A-7A7A3FDA8BA7}"/>
              </a:ext>
            </a:extLst>
          </p:cNvPr>
          <p:cNvSpPr txBox="1"/>
          <p:nvPr/>
        </p:nvSpPr>
        <p:spPr>
          <a:xfrm rot="21569537">
            <a:off x="-5056" y="1959378"/>
            <a:ext cx="12201893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4500">
                <a:solidFill>
                  <a:srgbClr val="629737"/>
                </a:solidFill>
              </a:defRPr>
            </a:lvl1pPr>
          </a:lstStyle>
          <a:p>
            <a:pPr algn="ctr"/>
            <a:r>
              <a:rPr lang="fr-SN" sz="2800" b="1" i="1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“</a:t>
            </a:r>
            <a:r>
              <a:rPr lang="fr-SN" sz="2800" b="1" i="1" u="none" strike="noStrike" dirty="0" err="1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Meun</a:t>
            </a:r>
            <a:r>
              <a:rPr lang="fr-SN" sz="2800" b="1" i="1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SN" sz="2800" b="1" i="1" u="none" strike="noStrike" dirty="0" err="1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Nga</a:t>
            </a:r>
            <a:r>
              <a:rPr lang="fr-SN" sz="2800" b="1" i="1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SN" sz="2800" b="1" i="1" u="none" strike="noStrike" dirty="0" err="1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Tekki</a:t>
            </a:r>
            <a:r>
              <a:rPr lang="fr-SN" sz="2800" b="1" i="1" u="none" strike="noStrike" dirty="0"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 Fi”</a:t>
            </a:r>
            <a:endParaRPr lang="fr-FR" sz="8000" i="1" dirty="0">
              <a:solidFill>
                <a:srgbClr val="002060"/>
              </a:solidFill>
              <a:latin typeface="Gilroy" panose="00000500000000000000" pitchFamily="2" charset="0"/>
            </a:endParaRPr>
          </a:p>
        </p:txBody>
      </p:sp>
      <p:sp>
        <p:nvSpPr>
          <p:cNvPr id="5" name="Présentation des projets">
            <a:extLst>
              <a:ext uri="{FF2B5EF4-FFF2-40B4-BE49-F238E27FC236}">
                <a16:creationId xmlns:a16="http://schemas.microsoft.com/office/drawing/2014/main" id="{9C76600C-0AD7-4F2A-309D-343FDE4924B2}"/>
              </a:ext>
            </a:extLst>
          </p:cNvPr>
          <p:cNvSpPr txBox="1"/>
          <p:nvPr/>
        </p:nvSpPr>
        <p:spPr>
          <a:xfrm rot="21569537">
            <a:off x="-4784" y="2712117"/>
            <a:ext cx="12191422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4500">
                <a:solidFill>
                  <a:srgbClr val="629737"/>
                </a:solidFill>
              </a:defRPr>
            </a:lvl1pPr>
          </a:lstStyle>
          <a:p>
            <a:pPr algn="ctr"/>
            <a:r>
              <a:rPr lang="fr-SN" sz="2800" b="1" i="1" dirty="0">
                <a:solidFill>
                  <a:srgbClr val="002060"/>
                </a:solidFill>
                <a:latin typeface="Arial" panose="020B0604020202020204" pitchFamily="34" charset="0"/>
              </a:rPr>
              <a:t>DEMO DAY</a:t>
            </a:r>
            <a:endParaRPr lang="fr-FR" sz="8000" b="1" i="1" dirty="0">
              <a:solidFill>
                <a:srgbClr val="002060"/>
              </a:solidFill>
              <a:latin typeface="Gilroy" panose="00000500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094DF05-8129-DF24-E170-021B2D2764B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9" t="50001" r="26837" b="15327"/>
          <a:stretch/>
        </p:blipFill>
        <p:spPr>
          <a:xfrm>
            <a:off x="81356" y="0"/>
            <a:ext cx="2260716" cy="1763305"/>
          </a:xfrm>
          <a:prstGeom prst="rect">
            <a:avLst/>
          </a:prstGeom>
        </p:spPr>
      </p:pic>
      <p:sp>
        <p:nvSpPr>
          <p:cNvPr id="8" name="Présentation des projets">
            <a:extLst>
              <a:ext uri="{FF2B5EF4-FFF2-40B4-BE49-F238E27FC236}">
                <a16:creationId xmlns:a16="http://schemas.microsoft.com/office/drawing/2014/main" id="{6EBFAA58-C4C6-0D60-F9DF-CD0837DE3FFB}"/>
              </a:ext>
            </a:extLst>
          </p:cNvPr>
          <p:cNvSpPr txBox="1"/>
          <p:nvPr/>
        </p:nvSpPr>
        <p:spPr>
          <a:xfrm rot="21569537">
            <a:off x="84025" y="3999384"/>
            <a:ext cx="12191422" cy="1395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4500">
                <a:solidFill>
                  <a:srgbClr val="629737"/>
                </a:solidFill>
              </a:defRPr>
            </a:lvl1pPr>
          </a:lstStyle>
          <a:p>
            <a:pPr algn="ctr"/>
            <a:r>
              <a:rPr lang="fr-SN" sz="2800" b="1" i="1" dirty="0">
                <a:solidFill>
                  <a:srgbClr val="C00000"/>
                </a:solidFill>
                <a:latin typeface="Arial" panose="020B0604020202020204" pitchFamily="34" charset="0"/>
              </a:rPr>
              <a:t>PARTAGE D’EXPÉRIENCE SUR LES BONNES PRATIQUES EN MATIÈRE D’HYGIÈNE EN ENTREPRISE DE PRODUCTION ALIMENTAIRE </a:t>
            </a:r>
            <a:endParaRPr lang="fr-FR" sz="8000" b="1" i="1" dirty="0">
              <a:solidFill>
                <a:srgbClr val="C00000"/>
              </a:solidFill>
              <a:latin typeface="Gilroy" panose="00000500000000000000" pitchFamily="2" charset="0"/>
            </a:endParaRPr>
          </a:p>
        </p:txBody>
      </p:sp>
      <p:sp>
        <p:nvSpPr>
          <p:cNvPr id="9" name="Présentation des projets">
            <a:extLst>
              <a:ext uri="{FF2B5EF4-FFF2-40B4-BE49-F238E27FC236}">
                <a16:creationId xmlns:a16="http://schemas.microsoft.com/office/drawing/2014/main" id="{DEDD7B1E-8114-3A17-F712-20DBF6CC41BB}"/>
              </a:ext>
            </a:extLst>
          </p:cNvPr>
          <p:cNvSpPr txBox="1"/>
          <p:nvPr/>
        </p:nvSpPr>
        <p:spPr>
          <a:xfrm rot="21569537">
            <a:off x="8486156" y="5248965"/>
            <a:ext cx="3300533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4500">
                <a:solidFill>
                  <a:srgbClr val="629737"/>
                </a:solidFill>
              </a:defRPr>
            </a:lvl1pPr>
          </a:lstStyle>
          <a:p>
            <a:pPr algn="r"/>
            <a:r>
              <a:rPr lang="fr-SN" sz="1600" b="1" i="1" dirty="0">
                <a:solidFill>
                  <a:srgbClr val="002060"/>
                </a:solidFill>
                <a:latin typeface="Arial" panose="020B0604020202020204" pitchFamily="34" charset="0"/>
              </a:rPr>
              <a:t>Par Khadidiatou NDIAYE</a:t>
            </a:r>
          </a:p>
          <a:p>
            <a:pPr algn="r"/>
            <a:r>
              <a:rPr lang="fr-SN" sz="1600" b="1" i="1" dirty="0">
                <a:solidFill>
                  <a:srgbClr val="002060"/>
                </a:solidFill>
                <a:latin typeface="Arial" panose="020B0604020202020204" pitchFamily="34" charset="0"/>
              </a:rPr>
              <a:t>PDG EPICE’SN</a:t>
            </a:r>
            <a:endParaRPr lang="fr-FR" sz="5400" b="1" i="1" dirty="0">
              <a:solidFill>
                <a:srgbClr val="002060"/>
              </a:solidFill>
              <a:latin typeface="Gilroy" panose="00000500000000000000" pitchFamily="2" charset="0"/>
            </a:endParaRPr>
          </a:p>
        </p:txBody>
      </p:sp>
      <p:sp>
        <p:nvSpPr>
          <p:cNvPr id="10" name="Présentation des projets">
            <a:extLst>
              <a:ext uri="{FF2B5EF4-FFF2-40B4-BE49-F238E27FC236}">
                <a16:creationId xmlns:a16="http://schemas.microsoft.com/office/drawing/2014/main" id="{ABCBDEEB-D39F-2194-2160-9085AEDA0908}"/>
              </a:ext>
            </a:extLst>
          </p:cNvPr>
          <p:cNvSpPr txBox="1"/>
          <p:nvPr/>
        </p:nvSpPr>
        <p:spPr>
          <a:xfrm rot="21569537">
            <a:off x="9530344" y="5915388"/>
            <a:ext cx="2256326" cy="348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4500">
                <a:solidFill>
                  <a:srgbClr val="629737"/>
                </a:solidFill>
              </a:defRPr>
            </a:lvl1pPr>
          </a:lstStyle>
          <a:p>
            <a:pPr algn="r"/>
            <a:r>
              <a:rPr lang="fr-SN" sz="1600" b="1" i="1" dirty="0">
                <a:solidFill>
                  <a:srgbClr val="C00000"/>
                </a:solidFill>
                <a:latin typeface="Arial" panose="020B0604020202020204" pitchFamily="34" charset="0"/>
              </a:rPr>
              <a:t>Janvier 2023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Flèche : droite 4"/>
          <p:cNvSpPr/>
          <p:nvPr/>
        </p:nvSpPr>
        <p:spPr>
          <a:xfrm>
            <a:off x="640080" y="1243013"/>
            <a:ext cx="3855720" cy="4371974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Plan du support</a:t>
            </a:r>
          </a:p>
        </p:txBody>
      </p:sp>
      <p:sp>
        <p:nvSpPr>
          <p:cNvPr id="4" name="Rectangle : coins arrondis 3"/>
          <p:cNvSpPr/>
          <p:nvPr/>
        </p:nvSpPr>
        <p:spPr>
          <a:xfrm>
            <a:off x="6172200" y="804672"/>
            <a:ext cx="5221224" cy="523036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Santé et hygiène du personnel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>
              <a:solidFill>
                <a:schemeClr val="tx2"/>
              </a:solidFill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>
              <a:solidFill>
                <a:schemeClr val="tx2"/>
              </a:solidFill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Mesures barrières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>
              <a:solidFill>
                <a:schemeClr val="tx2"/>
              </a:solidFill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>
              <a:solidFill>
                <a:schemeClr val="tx2"/>
              </a:solidFill>
            </a:endParaRP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</a:rPr>
              <a:t>Nettoyage/ Désinfection matériels et locaux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EA32AF0-39CE-187A-5D55-CAE09DA218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9" t="50001" r="26837" b="15327"/>
          <a:stretch/>
        </p:blipFill>
        <p:spPr>
          <a:xfrm>
            <a:off x="11130356" y="6029943"/>
            <a:ext cx="1061644" cy="8280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olade ouvrante 8"/>
          <p:cNvSpPr/>
          <p:nvPr/>
        </p:nvSpPr>
        <p:spPr>
          <a:xfrm>
            <a:off x="4509002" y="1283426"/>
            <a:ext cx="1120091" cy="3843338"/>
          </a:xfrm>
          <a:prstGeom prst="leftBrace">
            <a:avLst>
              <a:gd name="adj1" fmla="val 8333"/>
              <a:gd name="adj2" fmla="val 52478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Flèche : droite 4">
            <a:extLst>
              <a:ext uri="{FF2B5EF4-FFF2-40B4-BE49-F238E27FC236}">
                <a16:creationId xmlns:a16="http://schemas.microsoft.com/office/drawing/2014/main" id="{B8614980-146D-C7EF-7B6C-781CD572603F}"/>
              </a:ext>
            </a:extLst>
          </p:cNvPr>
          <p:cNvSpPr/>
          <p:nvPr/>
        </p:nvSpPr>
        <p:spPr>
          <a:xfrm>
            <a:off x="731974" y="1946137"/>
            <a:ext cx="3246783" cy="2745687"/>
          </a:xfrm>
          <a:prstGeom prst="rightArrow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Santé du personnel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7B2C7EE-1ABD-C822-AC7F-E58F83E06E7C}"/>
              </a:ext>
            </a:extLst>
          </p:cNvPr>
          <p:cNvSpPr/>
          <p:nvPr/>
        </p:nvSpPr>
        <p:spPr>
          <a:xfrm>
            <a:off x="5616030" y="339213"/>
            <a:ext cx="5915025" cy="2647122"/>
          </a:xfrm>
          <a:prstGeom prst="roundRect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963055-C26B-6B61-6CD8-A206AF630CFA}"/>
              </a:ext>
            </a:extLst>
          </p:cNvPr>
          <p:cNvSpPr txBox="1"/>
          <p:nvPr/>
        </p:nvSpPr>
        <p:spPr>
          <a:xfrm>
            <a:off x="5907446" y="884347"/>
            <a:ext cx="250326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Dépistage par analyse bactériologique (Salmonelles)</a:t>
            </a:r>
          </a:p>
          <a:p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01A9C82-1FFA-DA6F-378A-9BB892286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3543" y="425725"/>
            <a:ext cx="2670726" cy="2474099"/>
          </a:xfrm>
          <a:prstGeom prst="rect">
            <a:avLst/>
          </a:prstGeom>
        </p:spPr>
      </p:pic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8D25117-D874-57DD-B121-6CE9A27BBF6E}"/>
              </a:ext>
            </a:extLst>
          </p:cNvPr>
          <p:cNvSpPr/>
          <p:nvPr/>
        </p:nvSpPr>
        <p:spPr>
          <a:xfrm>
            <a:off x="5616030" y="3610459"/>
            <a:ext cx="5915025" cy="2647122"/>
          </a:xfrm>
          <a:prstGeom prst="roundRect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7707314-8818-CB96-F4FC-4AB57A62632E}"/>
              </a:ext>
            </a:extLst>
          </p:cNvPr>
          <p:cNvSpPr txBox="1"/>
          <p:nvPr/>
        </p:nvSpPr>
        <p:spPr>
          <a:xfrm>
            <a:off x="5907446" y="4359965"/>
            <a:ext cx="25032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Mise à pied du personnel positif</a:t>
            </a:r>
          </a:p>
          <a:p>
            <a:endParaRPr lang="fr-FR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5156C09B-F5C9-A044-FB80-AB57CD1D3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6769" y="3685770"/>
            <a:ext cx="2857500" cy="246490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A7D34A6A-0E79-010B-55C4-790A077E9E17}"/>
              </a:ext>
            </a:extLst>
          </p:cNvPr>
          <p:cNvSpPr txBox="1"/>
          <p:nvPr/>
        </p:nvSpPr>
        <p:spPr>
          <a:xfrm>
            <a:off x="165277" y="77603"/>
            <a:ext cx="5216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fr-FR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Santé et hygiène du personnel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olade ouvrante 8"/>
          <p:cNvSpPr/>
          <p:nvPr/>
        </p:nvSpPr>
        <p:spPr>
          <a:xfrm>
            <a:off x="4495939" y="1631764"/>
            <a:ext cx="1120091" cy="3468874"/>
          </a:xfrm>
          <a:prstGeom prst="leftBrace">
            <a:avLst>
              <a:gd name="adj1" fmla="val 8333"/>
              <a:gd name="adj2" fmla="val 52478"/>
            </a:avLst>
          </a:prstGeom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7B2C7EE-1ABD-C822-AC7F-E58F83E06E7C}"/>
              </a:ext>
            </a:extLst>
          </p:cNvPr>
          <p:cNvSpPr/>
          <p:nvPr/>
        </p:nvSpPr>
        <p:spPr>
          <a:xfrm>
            <a:off x="5616030" y="839283"/>
            <a:ext cx="5915025" cy="2003937"/>
          </a:xfrm>
          <a:prstGeom prst="roundRect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963055-C26B-6B61-6CD8-A206AF630CFA}"/>
              </a:ext>
            </a:extLst>
          </p:cNvPr>
          <p:cNvSpPr txBox="1"/>
          <p:nvPr/>
        </p:nvSpPr>
        <p:spPr>
          <a:xfrm>
            <a:off x="6186572" y="836041"/>
            <a:ext cx="47739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Premier outil de travail: en contact direct avec les denrées alimentaires </a:t>
            </a:r>
          </a:p>
          <a:p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32ADF0-656D-50A6-23DD-D49D585D7982}"/>
              </a:ext>
            </a:extLst>
          </p:cNvPr>
          <p:cNvSpPr/>
          <p:nvPr/>
        </p:nvSpPr>
        <p:spPr>
          <a:xfrm>
            <a:off x="1903557" y="1157866"/>
            <a:ext cx="2478156" cy="4012294"/>
          </a:xfrm>
          <a:prstGeom prst="rect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CA5AE6-BC08-89F5-4F3E-829496AEE210}"/>
              </a:ext>
            </a:extLst>
          </p:cNvPr>
          <p:cNvSpPr txBox="1"/>
          <p:nvPr/>
        </p:nvSpPr>
        <p:spPr>
          <a:xfrm>
            <a:off x="165277" y="77603"/>
            <a:ext cx="5216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itchFamily="2" charset="2"/>
              <a:buChar char="Ø"/>
            </a:pPr>
            <a:r>
              <a:rPr lang="fr-FR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Santé et hygiène du personnel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0033BFE9-F33B-702D-0F5D-BE8059AA98DF}"/>
              </a:ext>
            </a:extLst>
          </p:cNvPr>
          <p:cNvSpPr/>
          <p:nvPr/>
        </p:nvSpPr>
        <p:spPr>
          <a:xfrm>
            <a:off x="5625552" y="3820608"/>
            <a:ext cx="5915025" cy="2003937"/>
          </a:xfrm>
          <a:prstGeom prst="roundRect">
            <a:avLst/>
          </a:prstGeom>
          <a:ln w="5715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FR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265E3BE-E32A-3D6A-31C2-278BFE0607ED}"/>
              </a:ext>
            </a:extLst>
          </p:cNvPr>
          <p:cNvSpPr txBox="1"/>
          <p:nvPr/>
        </p:nvSpPr>
        <p:spPr>
          <a:xfrm>
            <a:off x="6186572" y="4731306"/>
            <a:ext cx="47739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Vecteur de contamination </a:t>
            </a:r>
          </a:p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65A254-1BA8-1B3E-F221-7B94B03EA3A3}"/>
              </a:ext>
            </a:extLst>
          </p:cNvPr>
          <p:cNvSpPr/>
          <p:nvPr/>
        </p:nvSpPr>
        <p:spPr>
          <a:xfrm>
            <a:off x="1431339" y="6112391"/>
            <a:ext cx="9329322" cy="62285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…réduire la charge microbienne à la surface de la peau</a:t>
            </a:r>
            <a:r>
              <a:rPr lang="fr-FR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797666A-82D5-96BB-62A4-9594C1616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655" y="3133240"/>
            <a:ext cx="2367926" cy="197954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574A830-D26D-A085-C061-21D9A6479FFB}"/>
              </a:ext>
            </a:extLst>
          </p:cNvPr>
          <p:cNvSpPr txBox="1"/>
          <p:nvPr/>
        </p:nvSpPr>
        <p:spPr>
          <a:xfrm>
            <a:off x="2028825" y="1170190"/>
            <a:ext cx="225218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Importance capitale de l’hygiène des mains:</a:t>
            </a:r>
          </a:p>
          <a:p>
            <a:pPr algn="ctr"/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Pourquoi 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2991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04800" y="278296"/>
            <a:ext cx="3332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Hygiène du personnel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1971282" y="901147"/>
            <a:ext cx="7513983" cy="41081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Procédure de lavage des mains 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130" y="2120348"/>
            <a:ext cx="1338470" cy="52322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Quand? </a:t>
            </a:r>
          </a:p>
        </p:txBody>
      </p:sp>
      <p:sp>
        <p:nvSpPr>
          <p:cNvPr id="6" name="Rectangle : coins arrondis 5"/>
          <p:cNvSpPr/>
          <p:nvPr/>
        </p:nvSpPr>
        <p:spPr>
          <a:xfrm>
            <a:off x="5088836" y="1722783"/>
            <a:ext cx="4396430" cy="1550504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charset="2"/>
              <a:buChar char="ü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Apres chaque geste sale</a:t>
            </a:r>
          </a:p>
          <a:p>
            <a:pPr marL="342900" indent="-342900" algn="ctr">
              <a:buFont typeface="Wingdings" charset="2"/>
              <a:buChar char="ü"/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Avant chaque geste propre</a:t>
            </a:r>
          </a:p>
        </p:txBody>
      </p:sp>
      <p:sp>
        <p:nvSpPr>
          <p:cNvPr id="7" name="Flèche : droite 6"/>
          <p:cNvSpPr/>
          <p:nvPr/>
        </p:nvSpPr>
        <p:spPr>
          <a:xfrm>
            <a:off x="3148560" y="2178574"/>
            <a:ext cx="978408" cy="484632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007165" y="3962400"/>
            <a:ext cx="914400" cy="52322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Où?</a:t>
            </a:r>
          </a:p>
        </p:txBody>
      </p:sp>
      <p:sp>
        <p:nvSpPr>
          <p:cNvPr id="10" name="Rectangle : coins arrondis 9"/>
          <p:cNvSpPr/>
          <p:nvPr/>
        </p:nvSpPr>
        <p:spPr>
          <a:xfrm>
            <a:off x="5088835" y="3584714"/>
            <a:ext cx="5685182" cy="1550504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charset="2"/>
              <a:buChar char="ü"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Avant d’entrée en zone de production</a:t>
            </a:r>
          </a:p>
          <a:p>
            <a:pPr marL="457200" indent="-457200" algn="ctr">
              <a:buFont typeface="Wingdings" charset="2"/>
              <a:buChar char="ü"/>
            </a:pP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Dans les ateliers de production</a:t>
            </a:r>
          </a:p>
        </p:txBody>
      </p:sp>
      <p:sp>
        <p:nvSpPr>
          <p:cNvPr id="11" name="Flèche : droite 10"/>
          <p:cNvSpPr/>
          <p:nvPr/>
        </p:nvSpPr>
        <p:spPr>
          <a:xfrm>
            <a:off x="3148560" y="4117650"/>
            <a:ext cx="978408" cy="484632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795130" y="5499653"/>
            <a:ext cx="1895061" cy="52322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Dispositifs?</a:t>
            </a:r>
          </a:p>
        </p:txBody>
      </p:sp>
      <p:sp>
        <p:nvSpPr>
          <p:cNvPr id="13" name="Rectangle : coins arrondis 12"/>
          <p:cNvSpPr/>
          <p:nvPr/>
        </p:nvSpPr>
        <p:spPr>
          <a:xfrm>
            <a:off x="5088835" y="5499653"/>
            <a:ext cx="4903303" cy="1020417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Savon liquide pour mains, lavabo, Essuie-mains (papiers), …</a:t>
            </a:r>
          </a:p>
        </p:txBody>
      </p:sp>
      <p:sp>
        <p:nvSpPr>
          <p:cNvPr id="14" name="Flèche : droite 13"/>
          <p:cNvSpPr/>
          <p:nvPr/>
        </p:nvSpPr>
        <p:spPr>
          <a:xfrm>
            <a:off x="3148560" y="5572094"/>
            <a:ext cx="978408" cy="484632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670" y="1558045"/>
            <a:ext cx="2565330" cy="16478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958" y="462305"/>
            <a:ext cx="4346713" cy="559131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29" y="287616"/>
            <a:ext cx="6042254" cy="6255026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7938052" y="6229386"/>
            <a:ext cx="36054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Dispositif des lavage des mains </a:t>
            </a:r>
            <a:endParaRPr lang="fr-FR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8052" y="132521"/>
            <a:ext cx="3788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Hygiène du personnel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3003822" y="915703"/>
            <a:ext cx="5817706" cy="8315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Mesures barrières (Hygiène vestimentaire)</a:t>
            </a:r>
          </a:p>
        </p:txBody>
      </p:sp>
      <p:graphicFrame>
        <p:nvGraphicFramePr>
          <p:cNvPr id="4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534357"/>
              </p:ext>
            </p:extLst>
          </p:nvPr>
        </p:nvGraphicFramePr>
        <p:xfrm>
          <a:off x="693530" y="1945639"/>
          <a:ext cx="8127999" cy="3419449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770">
                <a:tc>
                  <a:txBody>
                    <a:bodyPr/>
                    <a:lstStyle/>
                    <a:p>
                      <a:r>
                        <a:rPr lang="fr-FR" sz="2800" dirty="0"/>
                        <a:t>Tenue de travail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/>
                        <a:t>finalité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800" dirty="0"/>
                        <a:t>consignes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999">
                <a:tc>
                  <a:txBody>
                    <a:bodyPr/>
                    <a:lstStyle/>
                    <a:p>
                      <a:r>
                        <a:rPr lang="fr-FR" sz="2400" dirty="0"/>
                        <a:t>Veste, pantalon, blouse </a:t>
                      </a:r>
                      <a:endParaRPr lang="fr-FR" sz="2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Protection des denrées et du personnel</a:t>
                      </a:r>
                      <a:endParaRPr lang="fr-FR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A porter en zone de fabrication (doivent être toujours propre)</a:t>
                      </a:r>
                      <a:endParaRPr lang="fr-FR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999">
                <a:tc>
                  <a:txBody>
                    <a:bodyPr/>
                    <a:lstStyle/>
                    <a:p>
                      <a:r>
                        <a:rPr lang="fr-FR" sz="2800" dirty="0"/>
                        <a:t>coiffe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Prévenir les chutes de cheveux dans les denrées</a:t>
                      </a:r>
                      <a:endParaRPr lang="fr-FR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A jeter dès la sortie en zone de production </a:t>
                      </a:r>
                      <a:endParaRPr lang="fr-FR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1999">
                <a:tc>
                  <a:txBody>
                    <a:bodyPr/>
                    <a:lstStyle/>
                    <a:p>
                      <a:r>
                        <a:rPr lang="fr-FR" sz="2800" dirty="0"/>
                        <a:t>masque 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Eviter toutes contaminations </a:t>
                      </a:r>
                      <a:endParaRPr lang="fr-FR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A conserver zone de production </a:t>
                      </a:r>
                      <a:endParaRPr lang="fr-FR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07186"/>
              </p:ext>
            </p:extLst>
          </p:nvPr>
        </p:nvGraphicFramePr>
        <p:xfrm>
          <a:off x="693529" y="5365088"/>
          <a:ext cx="8127999" cy="77853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8537">
                <a:tc>
                  <a:txBody>
                    <a:bodyPr/>
                    <a:lstStyle/>
                    <a:p>
                      <a:r>
                        <a:rPr lang="fr-FR" sz="2800" b="0" dirty="0">
                          <a:latin typeface="Times New Roman" pitchFamily="18" charset="0"/>
                          <a:cs typeface="Times New Roman" pitchFamily="18" charset="0"/>
                        </a:rPr>
                        <a:t>Gants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0" dirty="0">
                          <a:latin typeface="Times New Roman" pitchFamily="18" charset="0"/>
                          <a:cs typeface="Times New Roman" pitchFamily="18" charset="0"/>
                        </a:rPr>
                        <a:t>Eviter toutes contaminations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b="0" dirty="0">
                          <a:latin typeface="Times New Roman" pitchFamily="18" charset="0"/>
                          <a:cs typeface="Times New Roman" pitchFamily="18" charset="0"/>
                        </a:rPr>
                        <a:t>A jeter dès la sortie da zone de production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294" y="1983242"/>
            <a:ext cx="2857500" cy="3953731"/>
          </a:xfrm>
          <a:prstGeom prst="rect">
            <a:avLst/>
          </a:prstGeom>
        </p:spPr>
      </p:pic>
      <p:sp>
        <p:nvSpPr>
          <p:cNvPr id="5" name="Zone de texte 4"/>
          <p:cNvSpPr txBox="1"/>
          <p:nvPr/>
        </p:nvSpPr>
        <p:spPr>
          <a:xfrm>
            <a:off x="10272395" y="6352540"/>
            <a:ext cx="162750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x-none" altLang="en-US" sz="2400"/>
              <a:t>epices’sn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l="24443" r="21259" b="2"/>
          <a:stretch/>
        </p:blipFill>
        <p:spPr>
          <a:xfrm>
            <a:off x="191086" y="171715"/>
            <a:ext cx="5813197" cy="6129087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/>
          <a:srcRect l="23959" r="7871" b="1"/>
          <a:stretch/>
        </p:blipFill>
        <p:spPr>
          <a:xfrm>
            <a:off x="6196929" y="171716"/>
            <a:ext cx="5803986" cy="3171422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4"/>
          <a:srcRect r="7572" b="-3"/>
          <a:stretch/>
        </p:blipFill>
        <p:spPr>
          <a:xfrm>
            <a:off x="6196929" y="3514856"/>
            <a:ext cx="5786386" cy="2785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16696" y="172278"/>
            <a:ext cx="6440556" cy="66261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Nettoyage/ désinfection matériels et locaux  </a:t>
            </a:r>
          </a:p>
        </p:txBody>
      </p:sp>
      <p:sp>
        <p:nvSpPr>
          <p:cNvPr id="3" name="Rectangle 2"/>
          <p:cNvSpPr/>
          <p:nvPr/>
        </p:nvSpPr>
        <p:spPr>
          <a:xfrm>
            <a:off x="424069" y="1192695"/>
            <a:ext cx="1775791" cy="51683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Pourquoi ?</a:t>
            </a:r>
          </a:p>
        </p:txBody>
      </p:sp>
      <p:sp>
        <p:nvSpPr>
          <p:cNvPr id="5" name="Rectangle : coins arrondis 4"/>
          <p:cNvSpPr/>
          <p:nvPr/>
        </p:nvSpPr>
        <p:spPr>
          <a:xfrm>
            <a:off x="3843128" y="1106555"/>
            <a:ext cx="5605671" cy="91440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Seul moyen pour garantir la salubrité de l’entreprise et du matériel.</a:t>
            </a:r>
          </a:p>
        </p:txBody>
      </p:sp>
      <p:sp>
        <p:nvSpPr>
          <p:cNvPr id="6" name="Flèche : droite 5"/>
          <p:cNvSpPr/>
          <p:nvPr/>
        </p:nvSpPr>
        <p:spPr>
          <a:xfrm>
            <a:off x="2532290" y="1224898"/>
            <a:ext cx="978408" cy="484632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èche : droite 3"/>
          <p:cNvSpPr/>
          <p:nvPr/>
        </p:nvSpPr>
        <p:spPr>
          <a:xfrm>
            <a:off x="570967" y="3790123"/>
            <a:ext cx="2292627" cy="1687267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Ce qu’il faut faire 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 : coins arrondis 6"/>
          <p:cNvSpPr/>
          <p:nvPr/>
        </p:nvSpPr>
        <p:spPr>
          <a:xfrm>
            <a:off x="3366051" y="2332379"/>
            <a:ext cx="5499652" cy="4041917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Wingdings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Evaluer la situation hygienique  initiale des lieux</a:t>
            </a:r>
          </a:p>
          <a:p>
            <a:pPr marL="342900" indent="-342900" algn="ctr">
              <a:buFont typeface="Wingdings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Mettre en place un plan de nettoyage</a:t>
            </a:r>
          </a:p>
          <a:p>
            <a:pPr marL="342900" indent="-342900" algn="ctr">
              <a:buFont typeface="Wingdings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Veillez au respect des protocols de lavage</a:t>
            </a:r>
          </a:p>
          <a:p>
            <a:pPr marL="342900" indent="-342900" algn="ctr">
              <a:buFont typeface="Wingdings" charset="2"/>
              <a:buChar char="ü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Responsabiliser le personnel</a:t>
            </a:r>
          </a:p>
          <a:p>
            <a:pPr algn="ctr"/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1477" y="2160104"/>
            <a:ext cx="2608077" cy="43069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84314" y="371061"/>
            <a:ext cx="4055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Quelques definitions</a:t>
            </a:r>
            <a:endParaRPr lang="fr-FR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 : coins arrondis 4"/>
          <p:cNvSpPr/>
          <p:nvPr/>
        </p:nvSpPr>
        <p:spPr>
          <a:xfrm>
            <a:off x="675860" y="1285460"/>
            <a:ext cx="4982818" cy="2131921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Nettoyage:  action d’enlever les souillures physique et chimiques afin de faciliter la desinfection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 : coins arrondis 5"/>
          <p:cNvSpPr/>
          <p:nvPr/>
        </p:nvSpPr>
        <p:spPr>
          <a:xfrm>
            <a:off x="6533324" y="1285460"/>
            <a:ext cx="4704519" cy="213192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Desinfection : action d’eliminer les microorganismes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71" y="3642898"/>
            <a:ext cx="3432312" cy="214312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819" y="3866274"/>
            <a:ext cx="3207024" cy="2039017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028" y="3866273"/>
            <a:ext cx="2919413" cy="2039017"/>
          </a:xfrm>
          <a:prstGeom prst="rect">
            <a:avLst/>
          </a:prstGeom>
        </p:spPr>
      </p:pic>
      <p:sp>
        <p:nvSpPr>
          <p:cNvPr id="3" name="Zone de texte 2"/>
          <p:cNvSpPr txBox="1"/>
          <p:nvPr/>
        </p:nvSpPr>
        <p:spPr>
          <a:xfrm>
            <a:off x="10272395" y="6352540"/>
            <a:ext cx="162750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x-none" altLang="en-US" sz="2400"/>
              <a:t>epices’sn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477080" y="318055"/>
            <a:ext cx="6279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Construction du plan de nettoyage</a:t>
            </a:r>
            <a:endParaRPr lang="fr-FR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874640" y="1020418"/>
            <a:ext cx="3488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charset="2"/>
              <a:buChar char="q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Methode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OQ</a:t>
            </a: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fr-FR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234115" y="2010898"/>
            <a:ext cx="11512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uoi ?</a:t>
            </a:r>
            <a:endParaRPr lang="fr-FR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lèche : droite 4"/>
          <p:cNvSpPr/>
          <p:nvPr/>
        </p:nvSpPr>
        <p:spPr>
          <a:xfrm>
            <a:off x="2870346" y="1876419"/>
            <a:ext cx="1151277" cy="792178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 : coins arrondis 5"/>
          <p:cNvSpPr/>
          <p:nvPr/>
        </p:nvSpPr>
        <p:spPr>
          <a:xfrm>
            <a:off x="4363095" y="1300670"/>
            <a:ext cx="5114501" cy="1782658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identifier toutes les surfaces et tous les equipements</a:t>
            </a:r>
          </a:p>
          <a:p>
            <a:pPr marL="457200" indent="-457200" algn="ctr">
              <a:buFont typeface="Wingdings" charset="2"/>
              <a:buChar char="ü"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regrouper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en lots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Tableau 7"/>
          <p:cNvGraphicFramePr>
            <a:graphicFrameLocks noGrp="1"/>
          </p:cNvGraphicFramePr>
          <p:nvPr/>
        </p:nvGraphicFramePr>
        <p:xfrm>
          <a:off x="768622" y="3280275"/>
          <a:ext cx="10204178" cy="34442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10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20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44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Surfaces 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Exemples 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44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Locaux 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Sols, mures, portes,…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10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Materiel 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Petits ustensiles, moules de fabrication,…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44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Machines 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Machines de production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102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Structures 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imes New Roman" pitchFamily="18" charset="0"/>
                          <a:cs typeface="Times New Roman" pitchFamily="18" charset="0"/>
                        </a:rPr>
                        <a:t>Tables, tiroirs, structures inox, plan de travail,…</a:t>
                      </a:r>
                      <a:endParaRPr lang="fr-FR" sz="2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078" y="902830"/>
            <a:ext cx="2478157" cy="21804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060" y="568274"/>
            <a:ext cx="2143127" cy="2373709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556588" y="516837"/>
            <a:ext cx="3488455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marL="457200" indent="-457200">
              <a:buFont typeface="Wingdings" charset="2"/>
              <a:buChar char="q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Methode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OQ</a:t>
            </a: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fr-FR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616765" y="1192696"/>
            <a:ext cx="958917" cy="52322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ui?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Flèche : droite 7"/>
          <p:cNvSpPr/>
          <p:nvPr/>
        </p:nvSpPr>
        <p:spPr>
          <a:xfrm>
            <a:off x="2770938" y="1192696"/>
            <a:ext cx="1138453" cy="654573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permet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 : coins arrondis 8"/>
          <p:cNvSpPr/>
          <p:nvPr/>
        </p:nvSpPr>
        <p:spPr>
          <a:xfrm>
            <a:off x="4227443" y="1106318"/>
            <a:ext cx="4875565" cy="119956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 definir un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responsable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par lot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1551" y="2941982"/>
            <a:ext cx="10040188" cy="86139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Le personnel de production doit etre responsabilise meme si le nettoyage/desinfection est externalise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470" y="4207803"/>
            <a:ext cx="9383788" cy="2248730"/>
          </a:xfrm>
          <a:prstGeom prst="rect">
            <a:avLst/>
          </a:prstGeom>
        </p:spPr>
      </p:pic>
      <p:sp>
        <p:nvSpPr>
          <p:cNvPr id="3" name="Zone de texte 2"/>
          <p:cNvSpPr txBox="1"/>
          <p:nvPr/>
        </p:nvSpPr>
        <p:spPr>
          <a:xfrm>
            <a:off x="10272395" y="6352540"/>
            <a:ext cx="162750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x-none" altLang="en-US" sz="2400"/>
              <a:t>epices’sn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56588" y="424073"/>
            <a:ext cx="3488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charset="2"/>
              <a:buChar char="q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Methode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OQ</a:t>
            </a: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fr-FR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30175" y="3230337"/>
            <a:ext cx="2736647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?</a:t>
            </a:r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 Q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uand ?</a:t>
            </a:r>
            <a:endParaRPr lang="fr-FR" sz="3600" dirty="0"/>
          </a:p>
        </p:txBody>
      </p:sp>
      <p:sp>
        <p:nvSpPr>
          <p:cNvPr id="6" name="Flèche : droite 5"/>
          <p:cNvSpPr/>
          <p:nvPr/>
        </p:nvSpPr>
        <p:spPr>
          <a:xfrm>
            <a:off x="3566822" y="2911587"/>
            <a:ext cx="1408226" cy="1283830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permet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 : coins arrondis 6"/>
          <p:cNvSpPr/>
          <p:nvPr/>
        </p:nvSpPr>
        <p:spPr>
          <a:xfrm>
            <a:off x="5141843" y="1404730"/>
            <a:ext cx="5857461" cy="4174435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charset="2"/>
              <a:buChar char="ü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Definir le lieu</a:t>
            </a:r>
          </a:p>
          <a:p>
            <a:pPr marL="457200" indent="-457200" algn="ctr">
              <a:buFont typeface="Wingdings" charset="2"/>
              <a:buChar char="ü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Definir a quel moment</a:t>
            </a:r>
          </a:p>
          <a:p>
            <a:pPr marL="457200" indent="-457200" algn="ctr">
              <a:buFont typeface="Wingdings" charset="2"/>
              <a:buChar char="ü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Definir a quelle frequence</a:t>
            </a:r>
            <a:endParaRPr lang="fr-FR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Zone de texte 1"/>
          <p:cNvSpPr txBox="1"/>
          <p:nvPr/>
        </p:nvSpPr>
        <p:spPr>
          <a:xfrm>
            <a:off x="10272395" y="6352540"/>
            <a:ext cx="162750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x-none" altLang="en-US" sz="2400"/>
              <a:t>epices’sn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56588" y="424073"/>
            <a:ext cx="3488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charset="2"/>
              <a:buChar char="q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Methode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OQ</a:t>
            </a: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fr-FR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377325" y="1973749"/>
            <a:ext cx="18469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omment ?</a:t>
            </a:r>
            <a:endParaRPr lang="fr-FR" sz="2800" dirty="0"/>
          </a:p>
        </p:txBody>
      </p:sp>
      <p:sp>
        <p:nvSpPr>
          <p:cNvPr id="5" name="Flèche : droite 4"/>
          <p:cNvSpPr/>
          <p:nvPr/>
        </p:nvSpPr>
        <p:spPr>
          <a:xfrm>
            <a:off x="3780644" y="1973749"/>
            <a:ext cx="1140564" cy="617634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permet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 : coins arrondis 5"/>
          <p:cNvSpPr/>
          <p:nvPr/>
        </p:nvSpPr>
        <p:spPr>
          <a:xfrm>
            <a:off x="5357376" y="788263"/>
            <a:ext cx="5867215" cy="2988607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 decrire la procedure de nettoyage/desinfection: </a:t>
            </a:r>
          </a:p>
          <a:p>
            <a:pPr marL="342900" indent="-342900" algn="ctr">
              <a:buFont typeface="Wingdings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Quel materiel utilise</a:t>
            </a:r>
          </a:p>
          <a:p>
            <a:pPr marL="342900" indent="-342900" algn="ctr">
              <a:buFont typeface="Wingdings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Action mecanique (demontage, brossage, raclage,…)</a:t>
            </a:r>
          </a:p>
          <a:p>
            <a:pPr marL="342900" indent="-342900" algn="ctr">
              <a:buFont typeface="Wingdings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Action chimique: concentration des produits 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375" y="4266618"/>
            <a:ext cx="3505294" cy="203237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203" y="3993667"/>
            <a:ext cx="2431775" cy="2360701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513" y="3993667"/>
            <a:ext cx="2739246" cy="2360701"/>
          </a:xfrm>
          <a:prstGeom prst="rect">
            <a:avLst/>
          </a:prstGeom>
        </p:spPr>
      </p:pic>
      <p:sp>
        <p:nvSpPr>
          <p:cNvPr id="2" name="Zone de texte 1"/>
          <p:cNvSpPr txBox="1"/>
          <p:nvPr/>
        </p:nvSpPr>
        <p:spPr>
          <a:xfrm>
            <a:off x="10272395" y="6352540"/>
            <a:ext cx="162750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x-none" altLang="en-US" sz="2400"/>
              <a:t>epices’sn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556588" y="424073"/>
            <a:ext cx="34884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charset="2"/>
              <a:buChar char="q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Methode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OQ</a:t>
            </a:r>
            <a:r>
              <a:rPr lang="en-US" sz="28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endParaRPr lang="fr-FR" sz="28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311965" y="2001079"/>
            <a:ext cx="1661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ourquoi?</a:t>
            </a:r>
            <a:endParaRPr lang="fr-FR" sz="2800" dirty="0"/>
          </a:p>
        </p:txBody>
      </p:sp>
      <p:sp>
        <p:nvSpPr>
          <p:cNvPr id="5" name="Flèche : droite 4"/>
          <p:cNvSpPr/>
          <p:nvPr/>
        </p:nvSpPr>
        <p:spPr>
          <a:xfrm>
            <a:off x="3554712" y="1845246"/>
            <a:ext cx="1253574" cy="834886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Permet 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 : coins arrondis 5"/>
          <p:cNvSpPr/>
          <p:nvPr/>
        </p:nvSpPr>
        <p:spPr>
          <a:xfrm>
            <a:off x="5274365" y="947293"/>
            <a:ext cx="4691270" cy="2481707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 algn="ctr">
              <a:buFont typeface="Wingdings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 s’assurer de la proprete visuelle</a:t>
            </a:r>
          </a:p>
          <a:p>
            <a:pPr marL="457200" indent="-457200" algn="ctr">
              <a:buFont typeface="Wingdings" charset="2"/>
              <a:buChar char="ü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 s’assurer de la proprete microbiologique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997" y="3733918"/>
            <a:ext cx="5738192" cy="2852412"/>
          </a:xfrm>
          <a:prstGeom prst="rect">
            <a:avLst/>
          </a:prstGeom>
        </p:spPr>
      </p:pic>
      <p:sp>
        <p:nvSpPr>
          <p:cNvPr id="8" name="Zone de texte 7"/>
          <p:cNvSpPr txBox="1"/>
          <p:nvPr/>
        </p:nvSpPr>
        <p:spPr>
          <a:xfrm>
            <a:off x="10392410" y="6292850"/>
            <a:ext cx="162750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00000"/>
              </a:lnSpc>
            </a:pPr>
            <a:r>
              <a:rPr lang="x-none" altLang="en-US" sz="2400"/>
              <a:t>epices’sn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 3" descr="Une image contenant texte, Police, capture d’écran, jaune&#10;&#10;Description générée automatiquem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163" y="1134435"/>
            <a:ext cx="7746709" cy="45475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ksoSlideStyle" descr="#wm#_a_02_210_120" hidden="1"/>
          <p:cNvSpPr/>
          <p:nvPr/>
        </p:nvSpPr>
        <p:spPr>
          <a:xfrm>
            <a:off x="1524000" y="0"/>
            <a:ext cx="12700" cy="12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Arial" charset="0"/>
              <a:ea typeface="宋体" charset="-122"/>
            </a:endParaRPr>
          </a:p>
        </p:txBody>
      </p:sp>
      <p:pic>
        <p:nvPicPr>
          <p:cNvPr id="2" name="Image 1" descr="2023-01-15 21:34:23.259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560" y="1099820"/>
            <a:ext cx="7040245" cy="4658360"/>
          </a:xfrm>
          <a:prstGeom prst="rect">
            <a:avLst/>
          </a:prstGeom>
        </p:spPr>
      </p:pic>
      <p:pic>
        <p:nvPicPr>
          <p:cNvPr id="6" name="Image 5" descr="2023-01-15 23:35:19.203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390" y="3704590"/>
            <a:ext cx="3141980" cy="3153410"/>
          </a:xfrm>
          <a:prstGeom prst="rect">
            <a:avLst/>
          </a:prstGeom>
        </p:spPr>
      </p:pic>
      <p:pic>
        <p:nvPicPr>
          <p:cNvPr id="7" name="Image 6" descr="2023-01-15 23:35:18.9950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2390" y="0"/>
            <a:ext cx="3167380" cy="3510915"/>
          </a:xfrm>
          <a:prstGeom prst="rect">
            <a:avLst/>
          </a:prstGeom>
        </p:spPr>
      </p:pic>
      <p:pic>
        <p:nvPicPr>
          <p:cNvPr id="8" name="Image 7" descr="2023-01-15 23:35:18.5980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135" y="3495675"/>
            <a:ext cx="3446780" cy="3362325"/>
          </a:xfrm>
          <a:prstGeom prst="rect">
            <a:avLst/>
          </a:prstGeom>
        </p:spPr>
      </p:pic>
      <p:pic>
        <p:nvPicPr>
          <p:cNvPr id="11" name="Image 10" descr="2023-01-15 23:35:18.7790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810" y="0"/>
            <a:ext cx="3507105" cy="3018155"/>
          </a:xfrm>
          <a:prstGeom prst="rect">
            <a:avLst/>
          </a:prstGeom>
        </p:spPr>
      </p:pic>
      <p:sp>
        <p:nvSpPr>
          <p:cNvPr id="4" name="Zone de texte 3"/>
          <p:cNvSpPr txBox="1"/>
          <p:nvPr/>
        </p:nvSpPr>
        <p:spPr>
          <a:xfrm>
            <a:off x="3287395" y="5124450"/>
            <a:ext cx="4961255" cy="1367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00000"/>
              </a:lnSpc>
              <a:buChar char="•"/>
            </a:pPr>
            <a:r>
              <a:rPr lang="x-none" altLang="en-US" sz="2400"/>
              <a:t>contact: 773584239 /763581526</a:t>
            </a:r>
          </a:p>
          <a:p>
            <a:pPr marL="342900" indent="-342900">
              <a:lnSpc>
                <a:spcPct val="100000"/>
              </a:lnSpc>
              <a:buChar char="•"/>
            </a:pPr>
            <a:r>
              <a:rPr lang="x-none" altLang="en-US" sz="2400"/>
              <a:t>mail: epicesenegal@gmail.com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471</Words>
  <Application>Microsoft Macintosh PowerPoint</Application>
  <PresentationFormat>Grand écran</PresentationFormat>
  <Paragraphs>110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Gilroy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PC-ThinkPad Edge</dc:creator>
  <cp:lastModifiedBy>Microsoft Office User</cp:lastModifiedBy>
  <cp:revision>45</cp:revision>
  <dcterms:created xsi:type="dcterms:W3CDTF">1900-01-01T00:00:00Z</dcterms:created>
  <dcterms:modified xsi:type="dcterms:W3CDTF">2023-01-05T19:10:23Z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6878129BEE59F88A5E8FC463C7A3B8D0</vt:lpwstr>
  </property>
  <property fmtid="{D5CDD505-2E9C-101B-9397-08002B2CF9AE}" pid="3" name="KSOProductBuildVer">
    <vt:lpwstr>2052-11.29.2</vt:lpwstr>
  </property>
</Properties>
</file>